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cold on the line. No logo, no preamble. It is an accurate technical claim, not a slogan: a mail-only tool cannot make this judgement because it has never read the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problems are invisible to an inbox because the inbox has no idea what was agreed.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defensibility slide. A mail-only competitor cannot produce the right-hand side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capabilities, one dependency: all of it rests on having read the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was scripted for the demo. The link between the two messages is a field the classifier fills in: the 19 August message is conversationally noise and is also chasing a specific commitment.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amendment records the condition they attached — start only after the Collections page. Agreeing on terms is not the same as agreeing, and dropping the terms overstates what was settled. The same record is what lets the invoice check clear that line instead of disputing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Undo is free precisely because nothing was sent — at worst a draft leaves the drafts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domains, two currencies, two timezones, one prompt. The 10/10 is five reruns per message after the catch-all fix — the earlier version of this slide claimed stability from one observation, which is exactly the mistake this project keeps catching.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bug worth dwelling on is the second: it rendered a valid-looking page with a piece missing. Nothing signals check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same line the deck opened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569"/>
        </a:solidFill>
      </p:bgPr>
    </p:bg>
    <p:spTree>
      <p:nvGrpSpPr>
        <p:cNvPr id="1" name=""/>
        <p:cNvGrpSpPr/>
        <p:nvPr/>
      </p:nvGrpSpPr>
      <p:grpSpPr>
        <a:xfrm>
          <a:off x="0" y="0"/>
          <a:ext cx="0" cy="0"/>
          <a:chOff x="0" y="0"/>
          <a:chExt cx="0" cy="0"/>
        </a:xfrm>
      </p:grpSpPr>
      <p:sp>
        <p:nvSpPr>
          <p:cNvPr id="2" name="Text 0"/>
          <p:cNvSpPr/>
          <p:nvPr/>
        </p:nvSpPr>
        <p:spPr>
          <a:xfrm>
            <a:off x="822960" y="1828800"/>
            <a:ext cx="105156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Chief of Staff</a:t>
            </a:r>
            <a:endParaRPr lang="en-US" sz="5400" dirty="0"/>
          </a:p>
        </p:txBody>
      </p:sp>
      <p:sp>
        <p:nvSpPr>
          <p:cNvPr id="3" name="Text 1"/>
          <p:cNvSpPr/>
          <p:nvPr/>
        </p:nvSpPr>
        <p:spPr>
          <a:xfrm>
            <a:off x="822960" y="2880360"/>
            <a:ext cx="10058400" cy="1371600"/>
          </a:xfrm>
          <a:prstGeom prst="rect">
            <a:avLst/>
          </a:prstGeom>
          <a:noFill/>
          <a:ln/>
        </p:spPr>
        <p:txBody>
          <a:bodyPr wrap="square" lIns="0" tIns="0" rIns="0" bIns="0" rtlCol="0" anchor="ctr"/>
          <a:lstStyle/>
          <a:p>
            <a:pPr indent="0" marL="0">
              <a:lnSpc>
                <a:spcPts val="4000"/>
              </a:lnSpc>
              <a:buNone/>
            </a:pPr>
            <a:r>
              <a:rPr lang="en-US" sz="3000" i="1" dirty="0">
                <a:solidFill>
                  <a:srgbClr val="CFC9F2"/>
                </a:solidFill>
                <a:latin typeface="Cambria" pitchFamily="34" charset="0"/>
                <a:ea typeface="Cambria" pitchFamily="34" charset="-122"/>
                <a:cs typeface="Cambria" pitchFamily="34" charset="-120"/>
              </a:rPr>
              <a:t>Gmail has your inbox.</a:t>
            </a:r>
            <a:endParaRPr lang="en-US" sz="3000" dirty="0"/>
          </a:p>
          <a:p>
            <a:pPr indent="0" marL="0">
              <a:lnSpc>
                <a:spcPts val="4000"/>
              </a:lnSpc>
              <a:buNone/>
            </a:pPr>
            <a:r>
              <a:rPr lang="en-US" sz="3000" i="1" dirty="0">
                <a:solidFill>
                  <a:srgbClr val="CFC9F2"/>
                </a:solidFill>
                <a:latin typeface="Cambria" pitchFamily="34" charset="0"/>
                <a:ea typeface="Cambria" pitchFamily="34" charset="-122"/>
                <a:cs typeface="Cambria" pitchFamily="34" charset="-120"/>
              </a:rPr>
              <a:t>It does not have your contract.</a:t>
            </a:r>
            <a:endParaRPr lang="en-US" sz="3000" dirty="0"/>
          </a:p>
        </p:txBody>
      </p:sp>
      <p:sp>
        <p:nvSpPr>
          <p:cNvPr id="4" name="Text 2"/>
          <p:cNvSpPr/>
          <p:nvPr/>
        </p:nvSpPr>
        <p:spPr>
          <a:xfrm>
            <a:off x="822960" y="4526280"/>
            <a:ext cx="10058400" cy="365760"/>
          </a:xfrm>
          <a:prstGeom prst="rect">
            <a:avLst/>
          </a:prstGeom>
          <a:noFill/>
          <a:ln/>
        </p:spPr>
        <p:txBody>
          <a:bodyPr wrap="square" lIns="0" tIns="0" rIns="0" bIns="0" rtlCol="0" anchor="ctr"/>
          <a:lstStyle/>
          <a:p>
            <a:pPr indent="0" marL="0">
              <a:buNone/>
            </a:pPr>
            <a:r>
              <a:rPr lang="en-US" sz="1600" dirty="0">
                <a:solidFill>
                  <a:srgbClr val="A9A2D8"/>
                </a:solidFill>
                <a:latin typeface="Calibri" pitchFamily="34" charset="0"/>
                <a:ea typeface="Calibri" pitchFamily="34" charset="-122"/>
                <a:cs typeface="Calibri" pitchFamily="34" charset="-120"/>
              </a:rPr>
              <a:t>An agent that reads a freelancer's client email against the agreement they signed.</a:t>
            </a:r>
            <a:endParaRPr lang="en-US" sz="1600" dirty="0"/>
          </a:p>
        </p:txBody>
      </p:sp>
      <p:sp>
        <p:nvSpPr>
          <p:cNvPr id="5" name="Text 3"/>
          <p:cNvSpPr/>
          <p:nvPr/>
        </p:nvSpPr>
        <p:spPr>
          <a:xfrm>
            <a:off x="822960" y="5943600"/>
            <a:ext cx="5486400" cy="274320"/>
          </a:xfrm>
          <a:prstGeom prst="rect">
            <a:avLst/>
          </a:prstGeom>
          <a:noFill/>
          <a:ln/>
        </p:spPr>
        <p:txBody>
          <a:bodyPr wrap="square" lIns="0" tIns="0" rIns="0" bIns="0" rtlCol="0" anchor="ctr"/>
          <a:lstStyle/>
          <a:p>
            <a:pPr indent="0" marL="0">
              <a:buNone/>
            </a:pPr>
            <a:r>
              <a:rPr lang="en-US" sz="1100" spc="160" kern="0" dirty="0">
                <a:solidFill>
                  <a:srgbClr val="7E76B8"/>
                </a:solidFill>
                <a:latin typeface="Courier New" pitchFamily="34" charset="0"/>
                <a:ea typeface="Courier New" pitchFamily="34" charset="-122"/>
                <a:cs typeface="Courier New" pitchFamily="34" charset="-120"/>
              </a:rPr>
              <a:t>AI BUILDERS HACKATHON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3F7"/>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spc="140" kern="0" dirty="0">
                <a:solidFill>
                  <a:srgbClr val="4B3F9E"/>
                </a:solidFill>
                <a:latin typeface="Courier New" pitchFamily="34" charset="0"/>
                <a:ea typeface="Courier New" pitchFamily="34" charset="-122"/>
                <a:cs typeface="Courier New" pitchFamily="34" charset="-120"/>
              </a:rPr>
              <a:t>THE FREELANCER'S PROBLEM</a:t>
            </a:r>
            <a:endParaRPr lang="en-US" sz="1100" dirty="0"/>
          </a:p>
        </p:txBody>
      </p:sp>
      <p:sp>
        <p:nvSpPr>
          <p:cNvPr id="3" name="Text 1"/>
          <p:cNvSpPr/>
          <p:nvPr/>
        </p:nvSpPr>
        <p:spPr>
          <a:xfrm>
            <a:off x="640080" y="658368"/>
            <a:ext cx="10881360" cy="1280160"/>
          </a:xfrm>
          <a:prstGeom prst="rect">
            <a:avLst/>
          </a:prstGeom>
          <a:noFill/>
          <a:ln/>
        </p:spPr>
        <p:txBody>
          <a:bodyPr wrap="square" lIns="0" tIns="0" rIns="0" bIns="0" rtlCol="0" anchor="t"/>
          <a:lstStyle/>
          <a:p>
            <a:pPr indent="0" marL="0">
              <a:buNone/>
            </a:pPr>
            <a:r>
              <a:rPr lang="en-US" sz="3800" b="1" dirty="0">
                <a:solidFill>
                  <a:srgbClr val="16171D"/>
                </a:solidFill>
                <a:latin typeface="Cambria" pitchFamily="34" charset="0"/>
                <a:ea typeface="Cambria" pitchFamily="34" charset="-122"/>
                <a:cs typeface="Cambria" pitchFamily="34" charset="-120"/>
              </a:rPr>
              <a:t>Two things go wrong, neither in the inbox</a:t>
            </a:r>
            <a:endParaRPr lang="en-US" sz="3800" dirty="0"/>
          </a:p>
        </p:txBody>
      </p:sp>
      <p:sp>
        <p:nvSpPr>
          <p:cNvPr id="4" name="Shape 2"/>
          <p:cNvSpPr/>
          <p:nvPr/>
        </p:nvSpPr>
        <p:spPr>
          <a:xfrm>
            <a:off x="640080" y="2011680"/>
            <a:ext cx="6766560" cy="1463040"/>
          </a:xfrm>
          <a:prstGeom prst="roundRect">
            <a:avLst>
              <a:gd name="adj" fmla="val 1875"/>
            </a:avLst>
          </a:prstGeom>
          <a:solidFill>
            <a:srgbClr val="FBFBFD"/>
          </a:solidFill>
          <a:ln w="12700">
            <a:solidFill>
              <a:srgbClr val="D6D9E3"/>
            </a:solidFill>
            <a:prstDash val="solid"/>
          </a:ln>
        </p:spPr>
      </p:sp>
      <p:sp>
        <p:nvSpPr>
          <p:cNvPr id="5" name="Shape 3"/>
          <p:cNvSpPr/>
          <p:nvPr/>
        </p:nvSpPr>
        <p:spPr>
          <a:xfrm>
            <a:off x="914400" y="2304288"/>
            <a:ext cx="384048" cy="384048"/>
          </a:xfrm>
          <a:prstGeom prst="ellipse">
            <a:avLst/>
          </a:prstGeom>
          <a:solidFill>
            <a:srgbClr val="B3341F"/>
          </a:solidFill>
          <a:ln/>
        </p:spPr>
      </p:sp>
      <p:sp>
        <p:nvSpPr>
          <p:cNvPr id="6" name="Text 4"/>
          <p:cNvSpPr/>
          <p:nvPr/>
        </p:nvSpPr>
        <p:spPr>
          <a:xfrm>
            <a:off x="914400" y="23042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7" name="Text 5"/>
          <p:cNvSpPr/>
          <p:nvPr/>
        </p:nvSpPr>
        <p:spPr>
          <a:xfrm>
            <a:off x="1481328" y="2249424"/>
            <a:ext cx="5669280" cy="329184"/>
          </a:xfrm>
          <a:prstGeom prst="rect">
            <a:avLst/>
          </a:prstGeom>
          <a:noFill/>
          <a:ln/>
        </p:spPr>
        <p:txBody>
          <a:bodyPr wrap="square" lIns="0" tIns="0" rIns="0" bIns="0" rtlCol="0" anchor="ctr"/>
          <a:lstStyle/>
          <a:p>
            <a:pPr indent="0" marL="0">
              <a:buNone/>
            </a:pPr>
            <a:r>
              <a:rPr lang="en-US" sz="1900" b="1" dirty="0">
                <a:solidFill>
                  <a:srgbClr val="16171D"/>
                </a:solidFill>
                <a:latin typeface="Calibri" pitchFamily="34" charset="0"/>
                <a:ea typeface="Calibri" pitchFamily="34" charset="-122"/>
                <a:cs typeface="Calibri" pitchFamily="34" charset="-120"/>
              </a:rPr>
              <a:t>Scope creep arrives politely</a:t>
            </a:r>
            <a:endParaRPr lang="en-US" sz="1900" dirty="0"/>
          </a:p>
        </p:txBody>
      </p:sp>
      <p:sp>
        <p:nvSpPr>
          <p:cNvPr id="8" name="Text 6"/>
          <p:cNvSpPr/>
          <p:nvPr/>
        </p:nvSpPr>
        <p:spPr>
          <a:xfrm>
            <a:off x="1481328" y="2633472"/>
            <a:ext cx="5669280" cy="731520"/>
          </a:xfrm>
          <a:prstGeom prst="rect">
            <a:avLst/>
          </a:prstGeom>
          <a:noFill/>
          <a:ln/>
        </p:spPr>
        <p:txBody>
          <a:bodyPr wrap="square" lIns="0" tIns="0" rIns="0" bIns="0" rtlCol="0" anchor="ctr"/>
          <a:lstStyle/>
          <a:p>
            <a:pPr indent="0" marL="0">
              <a:lnSpc>
                <a:spcPts val="1900"/>
              </a:lnSpc>
              <a:buNone/>
            </a:pPr>
            <a:r>
              <a:rPr lang="en-US" sz="1350" dirty="0">
                <a:solidFill>
                  <a:srgbClr val="5B6072"/>
                </a:solidFill>
                <a:latin typeface="Calibri" pitchFamily="34" charset="0"/>
                <a:ea typeface="Calibri" pitchFamily="34" charset="-122"/>
                <a:cs typeface="Calibri" pitchFamily="34" charset="-120"/>
              </a:rPr>
              <a:t>“Can you also just add…” Nobody says “I'd like to change the contract.” It reads as a favour, so it gets done for free.</a:t>
            </a:r>
            <a:endParaRPr lang="en-US" sz="1350" dirty="0"/>
          </a:p>
        </p:txBody>
      </p:sp>
      <p:sp>
        <p:nvSpPr>
          <p:cNvPr id="9" name="Shape 7"/>
          <p:cNvSpPr/>
          <p:nvPr/>
        </p:nvSpPr>
        <p:spPr>
          <a:xfrm>
            <a:off x="640080" y="3794760"/>
            <a:ext cx="6766560" cy="1463040"/>
          </a:xfrm>
          <a:prstGeom prst="roundRect">
            <a:avLst>
              <a:gd name="adj" fmla="val 1875"/>
            </a:avLst>
          </a:prstGeom>
          <a:solidFill>
            <a:srgbClr val="FBFBFD"/>
          </a:solidFill>
          <a:ln w="12700">
            <a:solidFill>
              <a:srgbClr val="D6D9E3"/>
            </a:solidFill>
            <a:prstDash val="solid"/>
          </a:ln>
        </p:spPr>
      </p:sp>
      <p:sp>
        <p:nvSpPr>
          <p:cNvPr id="10" name="Shape 8"/>
          <p:cNvSpPr/>
          <p:nvPr/>
        </p:nvSpPr>
        <p:spPr>
          <a:xfrm>
            <a:off x="914400" y="4087368"/>
            <a:ext cx="384048" cy="384048"/>
          </a:xfrm>
          <a:prstGeom prst="ellipse">
            <a:avLst/>
          </a:prstGeom>
          <a:solidFill>
            <a:srgbClr val="4B3F9E"/>
          </a:solidFill>
          <a:ln/>
        </p:spPr>
      </p:sp>
      <p:sp>
        <p:nvSpPr>
          <p:cNvPr id="11" name="Text 9"/>
          <p:cNvSpPr/>
          <p:nvPr/>
        </p:nvSpPr>
        <p:spPr>
          <a:xfrm>
            <a:off x="914400" y="40873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12" name="Text 10"/>
          <p:cNvSpPr/>
          <p:nvPr/>
        </p:nvSpPr>
        <p:spPr>
          <a:xfrm>
            <a:off x="1481328" y="4032504"/>
            <a:ext cx="5669280" cy="329184"/>
          </a:xfrm>
          <a:prstGeom prst="rect">
            <a:avLst/>
          </a:prstGeom>
          <a:noFill/>
          <a:ln/>
        </p:spPr>
        <p:txBody>
          <a:bodyPr wrap="square" lIns="0" tIns="0" rIns="0" bIns="0" rtlCol="0" anchor="ctr"/>
          <a:lstStyle/>
          <a:p>
            <a:pPr indent="0" marL="0">
              <a:buNone/>
            </a:pPr>
            <a:r>
              <a:rPr lang="en-US" sz="1900" b="1" dirty="0">
                <a:solidFill>
                  <a:srgbClr val="16171D"/>
                </a:solidFill>
                <a:latin typeface="Calibri" pitchFamily="34" charset="0"/>
                <a:ea typeface="Calibri" pitchFamily="34" charset="-122"/>
                <a:cs typeface="Calibri" pitchFamily="34" charset="-120"/>
              </a:rPr>
              <a:t>Promises get lost in threads</a:t>
            </a:r>
            <a:endParaRPr lang="en-US" sz="1900" dirty="0"/>
          </a:p>
        </p:txBody>
      </p:sp>
      <p:sp>
        <p:nvSpPr>
          <p:cNvPr id="13" name="Text 11"/>
          <p:cNvSpPr/>
          <p:nvPr/>
        </p:nvSpPr>
        <p:spPr>
          <a:xfrm>
            <a:off x="1481328" y="4416552"/>
            <a:ext cx="5669280" cy="731520"/>
          </a:xfrm>
          <a:prstGeom prst="rect">
            <a:avLst/>
          </a:prstGeom>
          <a:noFill/>
          <a:ln/>
        </p:spPr>
        <p:txBody>
          <a:bodyPr wrap="square" lIns="0" tIns="0" rIns="0" bIns="0" rtlCol="0" anchor="ctr"/>
          <a:lstStyle/>
          <a:p>
            <a:pPr indent="0" marL="0">
              <a:lnSpc>
                <a:spcPts val="1900"/>
              </a:lnSpc>
              <a:buNone/>
            </a:pPr>
            <a:r>
              <a:rPr lang="en-US" sz="1350" dirty="0">
                <a:solidFill>
                  <a:srgbClr val="5B6072"/>
                </a:solidFill>
                <a:latin typeface="Calibri" pitchFamily="34" charset="0"/>
                <a:ea typeface="Calibri" pitchFamily="34" charset="-122"/>
                <a:cs typeface="Calibri" pitchFamily="34" charset="-120"/>
              </a:rPr>
              <a:t>“I'll get that to you by Friday” is buried under forty messages. The client remembers. You don't.</a:t>
            </a:r>
            <a:endParaRPr lang="en-US" sz="1350" dirty="0"/>
          </a:p>
        </p:txBody>
      </p:sp>
      <p:sp>
        <p:nvSpPr>
          <p:cNvPr id="14" name="Shape 12"/>
          <p:cNvSpPr/>
          <p:nvPr/>
        </p:nvSpPr>
        <p:spPr>
          <a:xfrm>
            <a:off x="7818120" y="2011680"/>
            <a:ext cx="3703320" cy="3246120"/>
          </a:xfrm>
          <a:prstGeom prst="roundRect">
            <a:avLst>
              <a:gd name="adj" fmla="val 845"/>
            </a:avLst>
          </a:prstGeom>
          <a:solidFill>
            <a:srgbClr val="2E2569"/>
          </a:solidFill>
          <a:ln w="12700">
            <a:solidFill>
              <a:srgbClr val="D6D9E3"/>
            </a:solidFill>
            <a:prstDash val="solid"/>
          </a:ln>
        </p:spPr>
      </p:sp>
      <p:sp>
        <p:nvSpPr>
          <p:cNvPr id="15" name="Text 13"/>
          <p:cNvSpPr/>
          <p:nvPr/>
        </p:nvSpPr>
        <p:spPr>
          <a:xfrm>
            <a:off x="8092440" y="2286000"/>
            <a:ext cx="3108960" cy="274320"/>
          </a:xfrm>
          <a:prstGeom prst="rect">
            <a:avLst/>
          </a:prstGeom>
          <a:noFill/>
          <a:ln/>
        </p:spPr>
        <p:txBody>
          <a:bodyPr wrap="square" lIns="0" tIns="0" rIns="0" bIns="0" rtlCol="0" anchor="ctr"/>
          <a:lstStyle/>
          <a:p>
            <a:pPr indent="0" marL="0">
              <a:buNone/>
            </a:pPr>
            <a:r>
              <a:rPr lang="en-US" sz="1100" spc="140" kern="0" dirty="0">
                <a:solidFill>
                  <a:srgbClr val="A9A2D8"/>
                </a:solidFill>
                <a:latin typeface="Courier New" pitchFamily="34" charset="0"/>
                <a:ea typeface="Courier New" pitchFamily="34" charset="-122"/>
                <a:cs typeface="Courier New" pitchFamily="34" charset="-120"/>
              </a:rPr>
              <a:t>The cost</a:t>
            </a:r>
            <a:endParaRPr lang="en-US" sz="1100" dirty="0"/>
          </a:p>
        </p:txBody>
      </p:sp>
      <p:sp>
        <p:nvSpPr>
          <p:cNvPr id="16" name="Text 14"/>
          <p:cNvSpPr/>
          <p:nvPr/>
        </p:nvSpPr>
        <p:spPr>
          <a:xfrm>
            <a:off x="8092440" y="2697480"/>
            <a:ext cx="3200400" cy="1737360"/>
          </a:xfrm>
          <a:prstGeom prst="rect">
            <a:avLst/>
          </a:prstGeom>
          <a:noFill/>
          <a:ln/>
        </p:spPr>
        <p:txBody>
          <a:bodyPr wrap="square" lIns="0" tIns="0" rIns="0" bIns="0" rtlCol="0" anchor="ctr"/>
          <a:lstStyle/>
          <a:p>
            <a:pPr indent="0" marL="0">
              <a:lnSpc>
                <a:spcPts val="3300"/>
              </a:lnSpc>
              <a:buNone/>
            </a:pPr>
            <a:r>
              <a:rPr lang="en-US" sz="2400" dirty="0">
                <a:solidFill>
                  <a:srgbClr val="FFFFFF"/>
                </a:solidFill>
                <a:latin typeface="Cambria" pitchFamily="34" charset="0"/>
                <a:ea typeface="Cambria" pitchFamily="34" charset="-122"/>
                <a:cs typeface="Cambria" pitchFamily="34" charset="-120"/>
              </a:rPr>
              <a:t>Unpaid work,</a:t>
            </a:r>
            <a:endParaRPr lang="en-US" sz="2400" dirty="0"/>
          </a:p>
          <a:p>
            <a:pPr indent="0" marL="0">
              <a:lnSpc>
                <a:spcPts val="3300"/>
              </a:lnSpc>
              <a:buNone/>
            </a:pPr>
            <a:r>
              <a:rPr lang="en-US" sz="2400" dirty="0">
                <a:solidFill>
                  <a:srgbClr val="FFFFFF"/>
                </a:solidFill>
                <a:latin typeface="Cambria" pitchFamily="34" charset="0"/>
                <a:ea typeface="Cambria" pitchFamily="34" charset="-122"/>
                <a:cs typeface="Cambria" pitchFamily="34" charset="-120"/>
              </a:rPr>
              <a:t>and a client who</a:t>
            </a:r>
            <a:endParaRPr lang="en-US" sz="2400" dirty="0"/>
          </a:p>
          <a:p>
            <a:pPr indent="0" marL="0">
              <a:lnSpc>
                <a:spcPts val="3300"/>
              </a:lnSpc>
              <a:buNone/>
            </a:pPr>
            <a:r>
              <a:rPr lang="en-US" sz="2400" dirty="0">
                <a:solidFill>
                  <a:srgbClr val="FFFFFF"/>
                </a:solidFill>
                <a:latin typeface="Cambria" pitchFamily="34" charset="0"/>
                <a:ea typeface="Cambria" pitchFamily="34" charset="-122"/>
                <a:cs typeface="Cambria" pitchFamily="34" charset="-120"/>
              </a:rPr>
              <a:t>stops trusting</a:t>
            </a:r>
            <a:endParaRPr lang="en-US" sz="2400" dirty="0"/>
          </a:p>
          <a:p>
            <a:pPr indent="0" marL="0">
              <a:lnSpc>
                <a:spcPts val="3300"/>
              </a:lnSpc>
              <a:buNone/>
            </a:pPr>
            <a:r>
              <a:rPr lang="en-US" sz="2400" dirty="0">
                <a:solidFill>
                  <a:srgbClr val="FFFFFF"/>
                </a:solidFill>
                <a:latin typeface="Cambria" pitchFamily="34" charset="0"/>
                <a:ea typeface="Cambria" pitchFamily="34" charset="-122"/>
                <a:cs typeface="Cambria" pitchFamily="34" charset="-120"/>
              </a:rPr>
              <a:t>your dates.</a:t>
            </a:r>
            <a:endParaRPr lang="en-US" sz="2400" dirty="0"/>
          </a:p>
        </p:txBody>
      </p:sp>
      <p:sp>
        <p:nvSpPr>
          <p:cNvPr id="17" name="Text 15"/>
          <p:cNvSpPr/>
          <p:nvPr/>
        </p:nvSpPr>
        <p:spPr>
          <a:xfrm>
            <a:off x="8092440" y="4663440"/>
            <a:ext cx="3200400" cy="365760"/>
          </a:xfrm>
          <a:prstGeom prst="rect">
            <a:avLst/>
          </a:prstGeom>
          <a:noFill/>
          <a:ln/>
        </p:spPr>
        <p:txBody>
          <a:bodyPr wrap="square" lIns="0" tIns="0" rIns="0" bIns="0" rtlCol="0" anchor="ctr"/>
          <a:lstStyle/>
          <a:p>
            <a:pPr indent="0" marL="0">
              <a:buNone/>
            </a:pPr>
            <a:r>
              <a:rPr lang="en-US" sz="1300" i="1" dirty="0">
                <a:solidFill>
                  <a:srgbClr val="A9A2D8"/>
                </a:solidFill>
                <a:latin typeface="Calibri" pitchFamily="34" charset="0"/>
                <a:ea typeface="Calibri" pitchFamily="34" charset="-122"/>
                <a:cs typeface="Calibri" pitchFamily="34" charset="-120"/>
              </a:rPr>
              <a:t>Every freelancer eats both.</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3F7"/>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spc="140" kern="0" dirty="0">
                <a:solidFill>
                  <a:srgbClr val="4B3F9E"/>
                </a:solidFill>
                <a:latin typeface="Courier New" pitchFamily="34" charset="0"/>
                <a:ea typeface="Courier New" pitchFamily="34" charset="-122"/>
                <a:cs typeface="Courier New" pitchFamily="34" charset="-120"/>
              </a:rPr>
              <a:t>THE OBVIOUS QUESTION</a:t>
            </a:r>
            <a:endParaRPr lang="en-US" sz="1100" dirty="0"/>
          </a:p>
        </p:txBody>
      </p:sp>
      <p:sp>
        <p:nvSpPr>
          <p:cNvPr id="3" name="Text 1"/>
          <p:cNvSpPr/>
          <p:nvPr/>
        </p:nvSpPr>
        <p:spPr>
          <a:xfrm>
            <a:off x="640080" y="658368"/>
            <a:ext cx="10881360" cy="1280160"/>
          </a:xfrm>
          <a:prstGeom prst="rect">
            <a:avLst/>
          </a:prstGeom>
          <a:noFill/>
          <a:ln/>
        </p:spPr>
        <p:txBody>
          <a:bodyPr wrap="square" lIns="0" tIns="0" rIns="0" bIns="0" rtlCol="0" anchor="t"/>
          <a:lstStyle/>
          <a:p>
            <a:pPr indent="0" marL="0">
              <a:buNone/>
            </a:pPr>
            <a:r>
              <a:rPr lang="en-US" sz="3800" b="1" dirty="0">
                <a:solidFill>
                  <a:srgbClr val="16171D"/>
                </a:solidFill>
                <a:latin typeface="Cambria" pitchFamily="34" charset="0"/>
                <a:ea typeface="Cambria" pitchFamily="34" charset="-122"/>
                <a:cs typeface="Cambria" pitchFamily="34" charset="-120"/>
              </a:rPr>
              <a:t>Why hasn't Gmail already done this?</a:t>
            </a:r>
            <a:endParaRPr lang="en-US" sz="3800" dirty="0"/>
          </a:p>
        </p:txBody>
      </p:sp>
      <p:sp>
        <p:nvSpPr>
          <p:cNvPr id="4" name="Text 2"/>
          <p:cNvSpPr/>
          <p:nvPr/>
        </p:nvSpPr>
        <p:spPr>
          <a:xfrm>
            <a:off x="640080" y="1664208"/>
            <a:ext cx="10881360" cy="365760"/>
          </a:xfrm>
          <a:prstGeom prst="rect">
            <a:avLst/>
          </a:prstGeom>
          <a:noFill/>
          <a:ln/>
        </p:spPr>
        <p:txBody>
          <a:bodyPr wrap="square" lIns="0" tIns="0" rIns="0" bIns="0" rtlCol="0" anchor="ctr"/>
          <a:lstStyle/>
          <a:p>
            <a:pPr indent="0" marL="0">
              <a:buNone/>
            </a:pPr>
            <a:r>
              <a:rPr lang="en-US" sz="1700" dirty="0">
                <a:solidFill>
                  <a:srgbClr val="5B6072"/>
                </a:solidFill>
                <a:latin typeface="Calibri" pitchFamily="34" charset="0"/>
                <a:ea typeface="Calibri" pitchFamily="34" charset="-122"/>
                <a:cs typeface="Calibri" pitchFamily="34" charset="-120"/>
              </a:rPr>
              <a:t>Because triage tools read mail. This reads the contract first.</a:t>
            </a:r>
            <a:endParaRPr lang="en-US" sz="1700" dirty="0"/>
          </a:p>
        </p:txBody>
      </p:sp>
      <p:sp>
        <p:nvSpPr>
          <p:cNvPr id="5" name="Shape 3"/>
          <p:cNvSpPr/>
          <p:nvPr/>
        </p:nvSpPr>
        <p:spPr>
          <a:xfrm>
            <a:off x="640080" y="2286000"/>
            <a:ext cx="5257800" cy="2926080"/>
          </a:xfrm>
          <a:prstGeom prst="roundRect">
            <a:avLst>
              <a:gd name="adj" fmla="val 938"/>
            </a:avLst>
          </a:prstGeom>
          <a:solidFill>
            <a:srgbClr val="FFFFFF"/>
          </a:solidFill>
          <a:ln w="12700">
            <a:solidFill>
              <a:srgbClr val="D6D9E3"/>
            </a:solidFill>
            <a:prstDash val="solid"/>
          </a:ln>
        </p:spPr>
      </p:sp>
      <p:sp>
        <p:nvSpPr>
          <p:cNvPr id="6" name="Text 4"/>
          <p:cNvSpPr/>
          <p:nvPr/>
        </p:nvSpPr>
        <p:spPr>
          <a:xfrm>
            <a:off x="914400" y="2542032"/>
            <a:ext cx="4572000" cy="237744"/>
          </a:xfrm>
          <a:prstGeom prst="rect">
            <a:avLst/>
          </a:prstGeom>
          <a:noFill/>
          <a:ln/>
        </p:spPr>
        <p:txBody>
          <a:bodyPr wrap="square" lIns="0" tIns="0" rIns="0" bIns="0" rtlCol="0" anchor="ctr"/>
          <a:lstStyle/>
          <a:p>
            <a:pPr indent="0" marL="0">
              <a:buNone/>
            </a:pPr>
            <a:r>
              <a:rPr lang="en-US" sz="1000" spc="120" kern="0" dirty="0">
                <a:solidFill>
                  <a:srgbClr val="5B6072"/>
                </a:solidFill>
                <a:latin typeface="Courier New" pitchFamily="34" charset="0"/>
                <a:ea typeface="Courier New" pitchFamily="34" charset="-122"/>
                <a:cs typeface="Courier New" pitchFamily="34" charset="-120"/>
              </a:rPr>
              <a:t>CLIENT, 10 AUGUST</a:t>
            </a:r>
            <a:endParaRPr lang="en-US" sz="1000" dirty="0"/>
          </a:p>
        </p:txBody>
      </p:sp>
      <p:sp>
        <p:nvSpPr>
          <p:cNvPr id="7" name="Text 5"/>
          <p:cNvSpPr/>
          <p:nvPr/>
        </p:nvSpPr>
        <p:spPr>
          <a:xfrm>
            <a:off x="914400" y="2880360"/>
            <a:ext cx="4709160" cy="1188720"/>
          </a:xfrm>
          <a:prstGeom prst="rect">
            <a:avLst/>
          </a:prstGeom>
          <a:noFill/>
          <a:ln/>
        </p:spPr>
        <p:txBody>
          <a:bodyPr wrap="square" lIns="0" tIns="0" rIns="0" bIns="0" rtlCol="0" anchor="ctr"/>
          <a:lstStyle/>
          <a:p>
            <a:pPr indent="0" marL="0">
              <a:lnSpc>
                <a:spcPts val="2100"/>
              </a:lnSpc>
              <a:buNone/>
            </a:pPr>
            <a:r>
              <a:rPr lang="en-US" sz="1500" dirty="0">
                <a:solidFill>
                  <a:srgbClr val="16171D"/>
                </a:solidFill>
                <a:latin typeface="Calibri" pitchFamily="34" charset="0"/>
                <a:ea typeface="Calibri" pitchFamily="34" charset="-122"/>
                <a:cs typeface="Calibri" pitchFamily="34" charset="-120"/>
              </a:rPr>
              <a:t>“Customers keep calling to ask if they can just buy the rings directly from the website. Nothing fancy, just a buy button.”</a:t>
            </a:r>
            <a:endParaRPr lang="en-US" sz="1500" dirty="0"/>
          </a:p>
        </p:txBody>
      </p:sp>
      <p:sp>
        <p:nvSpPr>
          <p:cNvPr id="8" name="Shape 6"/>
          <p:cNvSpPr/>
          <p:nvPr/>
        </p:nvSpPr>
        <p:spPr>
          <a:xfrm>
            <a:off x="914400" y="4224528"/>
            <a:ext cx="1600200" cy="310896"/>
          </a:xfrm>
          <a:prstGeom prst="roundRect">
            <a:avLst>
              <a:gd name="adj" fmla="val 8824"/>
            </a:avLst>
          </a:prstGeom>
          <a:solidFill>
            <a:srgbClr val="FBEDEA"/>
          </a:solidFill>
          <a:ln w="12700">
            <a:solidFill>
              <a:srgbClr val="B3341F"/>
            </a:solidFill>
            <a:prstDash val="solid"/>
          </a:ln>
        </p:spPr>
      </p:sp>
      <p:sp>
        <p:nvSpPr>
          <p:cNvPr id="9" name="Text 7"/>
          <p:cNvSpPr/>
          <p:nvPr/>
        </p:nvSpPr>
        <p:spPr>
          <a:xfrm>
            <a:off x="914400" y="4224528"/>
            <a:ext cx="1600200" cy="310896"/>
          </a:xfrm>
          <a:prstGeom prst="rect">
            <a:avLst/>
          </a:prstGeom>
          <a:noFill/>
          <a:ln/>
        </p:spPr>
        <p:txBody>
          <a:bodyPr wrap="square" lIns="0" tIns="0" rIns="0" bIns="0" rtlCol="0" anchor="ctr"/>
          <a:lstStyle/>
          <a:p>
            <a:pPr algn="ctr" indent="0" marL="0">
              <a:buNone/>
            </a:pPr>
            <a:r>
              <a:rPr lang="en-US" sz="1000" b="1" dirty="0">
                <a:solidFill>
                  <a:srgbClr val="B3341F"/>
                </a:solidFill>
                <a:latin typeface="Courier New" pitchFamily="34" charset="0"/>
                <a:ea typeface="Courier New" pitchFamily="34" charset="-122"/>
                <a:cs typeface="Courier New" pitchFamily="34" charset="-120"/>
              </a:rPr>
              <a:t>OUT OF SCOPE</a:t>
            </a:r>
            <a:endParaRPr lang="en-US" sz="1000" dirty="0"/>
          </a:p>
        </p:txBody>
      </p:sp>
      <p:sp>
        <p:nvSpPr>
          <p:cNvPr id="10" name="Shape 8"/>
          <p:cNvSpPr/>
          <p:nvPr/>
        </p:nvSpPr>
        <p:spPr>
          <a:xfrm>
            <a:off x="6263640" y="2286000"/>
            <a:ext cx="5257800" cy="2011680"/>
          </a:xfrm>
          <a:prstGeom prst="roundRect">
            <a:avLst>
              <a:gd name="adj" fmla="val 1818"/>
            </a:avLst>
          </a:prstGeom>
          <a:solidFill>
            <a:srgbClr val="FBFBFD"/>
          </a:solidFill>
          <a:ln w="12700">
            <a:solidFill>
              <a:srgbClr val="D6D9E3"/>
            </a:solidFill>
            <a:prstDash val="solid"/>
          </a:ln>
        </p:spPr>
      </p:sp>
      <p:sp>
        <p:nvSpPr>
          <p:cNvPr id="11" name="Text 9"/>
          <p:cNvSpPr/>
          <p:nvPr/>
        </p:nvSpPr>
        <p:spPr>
          <a:xfrm>
            <a:off x="6519672" y="2432304"/>
            <a:ext cx="4745736" cy="219456"/>
          </a:xfrm>
          <a:prstGeom prst="rect">
            <a:avLst/>
          </a:prstGeom>
          <a:noFill/>
          <a:ln/>
        </p:spPr>
        <p:txBody>
          <a:bodyPr wrap="square" lIns="0" tIns="0" rIns="0" bIns="0" rtlCol="0" anchor="ctr"/>
          <a:lstStyle/>
          <a:p>
            <a:pPr indent="0" marL="0">
              <a:buNone/>
            </a:pPr>
            <a:r>
              <a:rPr lang="en-US" sz="1000" spc="120" kern="0" dirty="0">
                <a:solidFill>
                  <a:srgbClr val="4B3F9E"/>
                </a:solidFill>
                <a:latin typeface="Courier New" pitchFamily="34" charset="0"/>
                <a:ea typeface="Courier New" pitchFamily="34" charset="-122"/>
                <a:cs typeface="Courier New" pitchFamily="34" charset="-120"/>
              </a:rPr>
              <a:t>THE AGREEMENT THEY BOTH SIGNED</a:t>
            </a:r>
            <a:endParaRPr lang="en-US" sz="1000" dirty="0"/>
          </a:p>
        </p:txBody>
      </p:sp>
      <p:sp>
        <p:nvSpPr>
          <p:cNvPr id="12" name="Text 10"/>
          <p:cNvSpPr/>
          <p:nvPr/>
        </p:nvSpPr>
        <p:spPr>
          <a:xfrm>
            <a:off x="6519672" y="2706624"/>
            <a:ext cx="4745736" cy="1408176"/>
          </a:xfrm>
          <a:prstGeom prst="rect">
            <a:avLst/>
          </a:prstGeom>
          <a:noFill/>
          <a:ln/>
        </p:spPr>
        <p:txBody>
          <a:bodyPr wrap="square" lIns="0" tIns="0" rIns="0" bIns="0" rtlCol="0" anchor="t"/>
          <a:lstStyle/>
          <a:p>
            <a:pPr indent="0" marL="0">
              <a:lnSpc>
                <a:spcPts val="2200"/>
              </a:lnSpc>
              <a:buNone/>
            </a:pPr>
            <a:r>
              <a:rPr lang="en-US" sz="1700" i="1" dirty="0">
                <a:solidFill>
                  <a:srgbClr val="16171D"/>
                </a:solidFill>
                <a:latin typeface="Cambria" pitchFamily="34" charset="0"/>
                <a:ea typeface="Cambria" pitchFamily="34" charset="-122"/>
                <a:cs typeface="Cambria" pitchFamily="34" charset="-120"/>
              </a:rPr>
              <a:t>“Online payments, shopping cart, and any e-commerce functionality are excluded from this agreement.”</a:t>
            </a:r>
            <a:endParaRPr lang="en-US" sz="1700" dirty="0"/>
          </a:p>
        </p:txBody>
      </p:sp>
      <p:sp>
        <p:nvSpPr>
          <p:cNvPr id="13" name="Text 11"/>
          <p:cNvSpPr/>
          <p:nvPr/>
        </p:nvSpPr>
        <p:spPr>
          <a:xfrm>
            <a:off x="6263640" y="4480560"/>
            <a:ext cx="5257800" cy="731520"/>
          </a:xfrm>
          <a:prstGeom prst="rect">
            <a:avLst/>
          </a:prstGeom>
          <a:noFill/>
          <a:ln/>
        </p:spPr>
        <p:txBody>
          <a:bodyPr wrap="square" lIns="0" tIns="0" rIns="0" bIns="0" rtlCol="0" anchor="ctr"/>
          <a:lstStyle/>
          <a:p>
            <a:pPr indent="0" marL="0">
              <a:lnSpc>
                <a:spcPts val="1900"/>
              </a:lnSpc>
              <a:buNone/>
            </a:pPr>
            <a:r>
              <a:rPr lang="en-US" sz="1350" dirty="0">
                <a:solidFill>
                  <a:srgbClr val="5B6072"/>
                </a:solidFill>
                <a:latin typeface="Calibri" pitchFamily="34" charset="0"/>
                <a:ea typeface="Calibri" pitchFamily="34" charset="-122"/>
                <a:cs typeface="Calibri" pitchFamily="34" charset="-120"/>
              </a:rPr>
              <a:t>The agent quotes the clause into the reply, word for word, so the client can check it.</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3F7"/>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spc="140" kern="0" dirty="0">
                <a:solidFill>
                  <a:srgbClr val="4B3F9E"/>
                </a:solidFill>
                <a:latin typeface="Courier New" pitchFamily="34" charset="0"/>
                <a:ea typeface="Courier New" pitchFamily="34" charset="-122"/>
                <a:cs typeface="Courier New" pitchFamily="34" charset="-120"/>
              </a:rPr>
              <a:t>WHAT IT DOES</a:t>
            </a:r>
            <a:endParaRPr lang="en-US" sz="1100" dirty="0"/>
          </a:p>
        </p:txBody>
      </p:sp>
      <p:sp>
        <p:nvSpPr>
          <p:cNvPr id="3" name="Text 1"/>
          <p:cNvSpPr/>
          <p:nvPr/>
        </p:nvSpPr>
        <p:spPr>
          <a:xfrm>
            <a:off x="640080" y="658368"/>
            <a:ext cx="10881360" cy="1280160"/>
          </a:xfrm>
          <a:prstGeom prst="rect">
            <a:avLst/>
          </a:prstGeom>
          <a:noFill/>
          <a:ln/>
        </p:spPr>
        <p:txBody>
          <a:bodyPr wrap="square" lIns="0" tIns="0" rIns="0" bIns="0" rtlCol="0" anchor="t"/>
          <a:lstStyle/>
          <a:p>
            <a:pPr indent="0" marL="0">
              <a:buNone/>
            </a:pPr>
            <a:r>
              <a:rPr lang="en-US" sz="3800" b="1" dirty="0">
                <a:solidFill>
                  <a:srgbClr val="16171D"/>
                </a:solidFill>
                <a:latin typeface="Cambria" pitchFamily="34" charset="0"/>
                <a:ea typeface="Cambria" pitchFamily="34" charset="-122"/>
                <a:cs typeface="Cambria" pitchFamily="34" charset="-120"/>
              </a:rPr>
              <a:t>Read it. Judge the mail. Track what changed.</a:t>
            </a:r>
            <a:endParaRPr lang="en-US" sz="3800" dirty="0"/>
          </a:p>
        </p:txBody>
      </p:sp>
      <p:sp>
        <p:nvSpPr>
          <p:cNvPr id="4" name="Shape 2"/>
          <p:cNvSpPr/>
          <p:nvPr/>
        </p:nvSpPr>
        <p:spPr>
          <a:xfrm>
            <a:off x="640080" y="2057400"/>
            <a:ext cx="2560320" cy="3154680"/>
          </a:xfrm>
          <a:prstGeom prst="roundRect">
            <a:avLst>
              <a:gd name="adj" fmla="val 1071"/>
            </a:avLst>
          </a:prstGeom>
          <a:solidFill>
            <a:srgbClr val="FBFBFD"/>
          </a:solidFill>
          <a:ln w="12700">
            <a:solidFill>
              <a:srgbClr val="D6D9E3"/>
            </a:solidFill>
            <a:prstDash val="solid"/>
          </a:ln>
        </p:spPr>
      </p:sp>
      <p:sp>
        <p:nvSpPr>
          <p:cNvPr id="5" name="Shape 3"/>
          <p:cNvSpPr/>
          <p:nvPr/>
        </p:nvSpPr>
        <p:spPr>
          <a:xfrm>
            <a:off x="877824" y="2340864"/>
            <a:ext cx="384048" cy="384048"/>
          </a:xfrm>
          <a:prstGeom prst="ellipse">
            <a:avLst/>
          </a:prstGeom>
          <a:solidFill>
            <a:srgbClr val="4B3F9E"/>
          </a:solidFill>
          <a:ln/>
        </p:spPr>
      </p:sp>
      <p:sp>
        <p:nvSpPr>
          <p:cNvPr id="6" name="Text 4"/>
          <p:cNvSpPr/>
          <p:nvPr/>
        </p:nvSpPr>
        <p:spPr>
          <a:xfrm>
            <a:off x="877824" y="23408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1</a:t>
            </a:r>
            <a:endParaRPr lang="en-US" sz="1300" dirty="0"/>
          </a:p>
        </p:txBody>
      </p:sp>
      <p:sp>
        <p:nvSpPr>
          <p:cNvPr id="7" name="Text 5"/>
          <p:cNvSpPr/>
          <p:nvPr/>
        </p:nvSpPr>
        <p:spPr>
          <a:xfrm>
            <a:off x="877824" y="2871216"/>
            <a:ext cx="2103120" cy="658368"/>
          </a:xfrm>
          <a:prstGeom prst="rect">
            <a:avLst/>
          </a:prstGeom>
          <a:noFill/>
          <a:ln/>
        </p:spPr>
        <p:txBody>
          <a:bodyPr wrap="square" lIns="0" tIns="0" rIns="0" bIns="0" rtlCol="0" anchor="ctr"/>
          <a:lstStyle/>
          <a:p>
            <a:pPr indent="0" marL="0">
              <a:lnSpc>
                <a:spcPts val="2100"/>
              </a:lnSpc>
              <a:buNone/>
            </a:pPr>
            <a:r>
              <a:rPr lang="en-US" sz="1600" b="1" dirty="0">
                <a:solidFill>
                  <a:srgbClr val="16171D"/>
                </a:solidFill>
                <a:latin typeface="Calibri" pitchFamily="34" charset="0"/>
                <a:ea typeface="Calibri" pitchFamily="34" charset="-122"/>
                <a:cs typeface="Calibri" pitchFamily="34" charset="-120"/>
              </a:rPr>
              <a:t>Reads the agreement</a:t>
            </a:r>
            <a:endParaRPr lang="en-US" sz="1600" dirty="0"/>
          </a:p>
        </p:txBody>
      </p:sp>
      <p:sp>
        <p:nvSpPr>
          <p:cNvPr id="8" name="Text 6"/>
          <p:cNvSpPr/>
          <p:nvPr/>
        </p:nvSpPr>
        <p:spPr>
          <a:xfrm>
            <a:off x="877824" y="3584448"/>
            <a:ext cx="2121408" cy="1508760"/>
          </a:xfrm>
          <a:prstGeom prst="rect">
            <a:avLst/>
          </a:prstGeom>
          <a:noFill/>
          <a:ln/>
        </p:spPr>
        <p:txBody>
          <a:bodyPr wrap="square" lIns="0" tIns="0" rIns="0" bIns="0" rtlCol="0" anchor="ctr"/>
          <a:lstStyle/>
          <a:p>
            <a:pPr indent="0" marL="0">
              <a:lnSpc>
                <a:spcPts val="1600"/>
              </a:lnSpc>
              <a:buNone/>
            </a:pPr>
            <a:r>
              <a:rPr lang="en-US" sz="1200" dirty="0">
                <a:solidFill>
                  <a:srgbClr val="5B6072"/>
                </a:solidFill>
                <a:latin typeface="Calibri" pitchFamily="34" charset="0"/>
                <a:ea typeface="Calibri" pitchFamily="34" charset="-122"/>
                <a:cs typeface="Calibri" pitchFamily="34" charset="-120"/>
              </a:rPr>
              <a:t>Turns a signed contract into scope items, each carrying a span copied word for word. A quote that isn't in the document raises — never quietly dropped.</a:t>
            </a:r>
            <a:endParaRPr lang="en-US" sz="1200" dirty="0"/>
          </a:p>
        </p:txBody>
      </p:sp>
      <p:sp>
        <p:nvSpPr>
          <p:cNvPr id="9" name="Shape 7"/>
          <p:cNvSpPr/>
          <p:nvPr/>
        </p:nvSpPr>
        <p:spPr>
          <a:xfrm>
            <a:off x="3456432" y="2057400"/>
            <a:ext cx="2560320" cy="3154680"/>
          </a:xfrm>
          <a:prstGeom prst="roundRect">
            <a:avLst>
              <a:gd name="adj" fmla="val 1071"/>
            </a:avLst>
          </a:prstGeom>
          <a:solidFill>
            <a:srgbClr val="FBFBFD"/>
          </a:solidFill>
          <a:ln w="12700">
            <a:solidFill>
              <a:srgbClr val="D6D9E3"/>
            </a:solidFill>
            <a:prstDash val="solid"/>
          </a:ln>
        </p:spPr>
      </p:sp>
      <p:sp>
        <p:nvSpPr>
          <p:cNvPr id="10" name="Shape 8"/>
          <p:cNvSpPr/>
          <p:nvPr/>
        </p:nvSpPr>
        <p:spPr>
          <a:xfrm>
            <a:off x="3694176" y="2340864"/>
            <a:ext cx="384048" cy="384048"/>
          </a:xfrm>
          <a:prstGeom prst="ellipse">
            <a:avLst/>
          </a:prstGeom>
          <a:solidFill>
            <a:srgbClr val="4B3F9E"/>
          </a:solidFill>
          <a:ln/>
        </p:spPr>
      </p:sp>
      <p:sp>
        <p:nvSpPr>
          <p:cNvPr id="11" name="Text 9"/>
          <p:cNvSpPr/>
          <p:nvPr/>
        </p:nvSpPr>
        <p:spPr>
          <a:xfrm>
            <a:off x="3694176" y="23408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2</a:t>
            </a:r>
            <a:endParaRPr lang="en-US" sz="1300" dirty="0"/>
          </a:p>
        </p:txBody>
      </p:sp>
      <p:sp>
        <p:nvSpPr>
          <p:cNvPr id="12" name="Text 10"/>
          <p:cNvSpPr/>
          <p:nvPr/>
        </p:nvSpPr>
        <p:spPr>
          <a:xfrm>
            <a:off x="3694176" y="2871216"/>
            <a:ext cx="2103120" cy="658368"/>
          </a:xfrm>
          <a:prstGeom prst="rect">
            <a:avLst/>
          </a:prstGeom>
          <a:noFill/>
          <a:ln/>
        </p:spPr>
        <p:txBody>
          <a:bodyPr wrap="square" lIns="0" tIns="0" rIns="0" bIns="0" rtlCol="0" anchor="ctr"/>
          <a:lstStyle/>
          <a:p>
            <a:pPr indent="0" marL="0">
              <a:lnSpc>
                <a:spcPts val="2100"/>
              </a:lnSpc>
              <a:buNone/>
            </a:pPr>
            <a:r>
              <a:rPr lang="en-US" sz="1600" b="1" dirty="0">
                <a:solidFill>
                  <a:srgbClr val="16171D"/>
                </a:solidFill>
                <a:latin typeface="Calibri" pitchFamily="34" charset="0"/>
                <a:ea typeface="Calibri" pitchFamily="34" charset="-122"/>
                <a:cs typeface="Calibri" pitchFamily="34" charset="-120"/>
              </a:rPr>
              <a:t>Judges every message</a:t>
            </a:r>
            <a:endParaRPr lang="en-US" sz="1600" dirty="0"/>
          </a:p>
        </p:txBody>
      </p:sp>
      <p:sp>
        <p:nvSpPr>
          <p:cNvPr id="13" name="Text 11"/>
          <p:cNvSpPr/>
          <p:nvPr/>
        </p:nvSpPr>
        <p:spPr>
          <a:xfrm>
            <a:off x="3694176" y="3584448"/>
            <a:ext cx="2121408" cy="1508760"/>
          </a:xfrm>
          <a:prstGeom prst="rect">
            <a:avLst/>
          </a:prstGeom>
          <a:noFill/>
          <a:ln/>
        </p:spPr>
        <p:txBody>
          <a:bodyPr wrap="square" lIns="0" tIns="0" rIns="0" bIns="0" rtlCol="0" anchor="ctr"/>
          <a:lstStyle/>
          <a:p>
            <a:pPr indent="0" marL="0">
              <a:lnSpc>
                <a:spcPts val="1600"/>
              </a:lnSpc>
              <a:buNone/>
            </a:pPr>
            <a:r>
              <a:rPr lang="en-US" sz="1200" dirty="0">
                <a:solidFill>
                  <a:srgbClr val="5B6072"/>
                </a:solidFill>
                <a:latin typeface="Calibri" pitchFamily="34" charset="0"/>
                <a:ea typeface="Calibri" pitchFamily="34" charset="-122"/>
                <a:cs typeface="Calibri" pitchFamily="34" charset="-120"/>
              </a:rPr>
              <a:t>In scope, out of scope, a new commitment, or noise — with the clause that decides it and how sure it is.</a:t>
            </a:r>
            <a:endParaRPr lang="en-US" sz="1200" dirty="0"/>
          </a:p>
        </p:txBody>
      </p:sp>
      <p:sp>
        <p:nvSpPr>
          <p:cNvPr id="14" name="Shape 12"/>
          <p:cNvSpPr/>
          <p:nvPr/>
        </p:nvSpPr>
        <p:spPr>
          <a:xfrm>
            <a:off x="6272784" y="2057400"/>
            <a:ext cx="2560320" cy="3154680"/>
          </a:xfrm>
          <a:prstGeom prst="roundRect">
            <a:avLst>
              <a:gd name="adj" fmla="val 1071"/>
            </a:avLst>
          </a:prstGeom>
          <a:solidFill>
            <a:srgbClr val="FBFBFD"/>
          </a:solidFill>
          <a:ln w="12700">
            <a:solidFill>
              <a:srgbClr val="D6D9E3"/>
            </a:solidFill>
            <a:prstDash val="solid"/>
          </a:ln>
        </p:spPr>
      </p:sp>
      <p:sp>
        <p:nvSpPr>
          <p:cNvPr id="15" name="Shape 13"/>
          <p:cNvSpPr/>
          <p:nvPr/>
        </p:nvSpPr>
        <p:spPr>
          <a:xfrm>
            <a:off x="6510528" y="2340864"/>
            <a:ext cx="384048" cy="384048"/>
          </a:xfrm>
          <a:prstGeom prst="ellipse">
            <a:avLst/>
          </a:prstGeom>
          <a:solidFill>
            <a:srgbClr val="4B3F9E"/>
          </a:solidFill>
          <a:ln/>
        </p:spPr>
      </p:sp>
      <p:sp>
        <p:nvSpPr>
          <p:cNvPr id="16" name="Text 14"/>
          <p:cNvSpPr/>
          <p:nvPr/>
        </p:nvSpPr>
        <p:spPr>
          <a:xfrm>
            <a:off x="6510528" y="23408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3</a:t>
            </a:r>
            <a:endParaRPr lang="en-US" sz="1300" dirty="0"/>
          </a:p>
        </p:txBody>
      </p:sp>
      <p:sp>
        <p:nvSpPr>
          <p:cNvPr id="17" name="Text 15"/>
          <p:cNvSpPr/>
          <p:nvPr/>
        </p:nvSpPr>
        <p:spPr>
          <a:xfrm>
            <a:off x="6510528" y="2871216"/>
            <a:ext cx="2103120" cy="658368"/>
          </a:xfrm>
          <a:prstGeom prst="rect">
            <a:avLst/>
          </a:prstGeom>
          <a:noFill/>
          <a:ln/>
        </p:spPr>
        <p:txBody>
          <a:bodyPr wrap="square" lIns="0" tIns="0" rIns="0" bIns="0" rtlCol="0" anchor="ctr"/>
          <a:lstStyle/>
          <a:p>
            <a:pPr indent="0" marL="0">
              <a:lnSpc>
                <a:spcPts val="2100"/>
              </a:lnSpc>
              <a:buNone/>
            </a:pPr>
            <a:r>
              <a:rPr lang="en-US" sz="1600" b="1" dirty="0">
                <a:solidFill>
                  <a:srgbClr val="16171D"/>
                </a:solidFill>
                <a:latin typeface="Calibri" pitchFamily="34" charset="0"/>
                <a:ea typeface="Calibri" pitchFamily="34" charset="-122"/>
                <a:cs typeface="Calibri" pitchFamily="34" charset="-120"/>
              </a:rPr>
              <a:t>Keeps the ledger</a:t>
            </a:r>
            <a:endParaRPr lang="en-US" sz="1600" dirty="0"/>
          </a:p>
        </p:txBody>
      </p:sp>
      <p:sp>
        <p:nvSpPr>
          <p:cNvPr id="18" name="Text 16"/>
          <p:cNvSpPr/>
          <p:nvPr/>
        </p:nvSpPr>
        <p:spPr>
          <a:xfrm>
            <a:off x="6510528" y="3584448"/>
            <a:ext cx="2121408" cy="1508760"/>
          </a:xfrm>
          <a:prstGeom prst="rect">
            <a:avLst/>
          </a:prstGeom>
          <a:noFill/>
          <a:ln/>
        </p:spPr>
        <p:txBody>
          <a:bodyPr wrap="square" lIns="0" tIns="0" rIns="0" bIns="0" rtlCol="0" anchor="ctr"/>
          <a:lstStyle/>
          <a:p>
            <a:pPr indent="0" marL="0">
              <a:lnSpc>
                <a:spcPts val="1600"/>
              </a:lnSpc>
              <a:buNone/>
            </a:pPr>
            <a:r>
              <a:rPr lang="en-US" sz="1200" dirty="0">
                <a:solidFill>
                  <a:srgbClr val="5B6072"/>
                </a:solidFill>
                <a:latin typeface="Calibri" pitchFamily="34" charset="0"/>
                <a:ea typeface="Calibri" pitchFamily="34" charset="-122"/>
                <a:cs typeface="Calibri" pitchFamily="34" charset="-120"/>
              </a:rPr>
              <a:t>Every promise either side made, the words that set its deadline, and whether it was kept.</a:t>
            </a:r>
            <a:endParaRPr lang="en-US" sz="1200" dirty="0"/>
          </a:p>
        </p:txBody>
      </p:sp>
      <p:sp>
        <p:nvSpPr>
          <p:cNvPr id="19" name="Shape 17"/>
          <p:cNvSpPr/>
          <p:nvPr/>
        </p:nvSpPr>
        <p:spPr>
          <a:xfrm>
            <a:off x="9089136" y="2057400"/>
            <a:ext cx="2560320" cy="3154680"/>
          </a:xfrm>
          <a:prstGeom prst="roundRect">
            <a:avLst>
              <a:gd name="adj" fmla="val 1071"/>
            </a:avLst>
          </a:prstGeom>
          <a:solidFill>
            <a:srgbClr val="FBFBFD"/>
          </a:solidFill>
          <a:ln w="12700">
            <a:solidFill>
              <a:srgbClr val="D6D9E3"/>
            </a:solidFill>
            <a:prstDash val="solid"/>
          </a:ln>
        </p:spPr>
      </p:sp>
      <p:sp>
        <p:nvSpPr>
          <p:cNvPr id="20" name="Shape 18"/>
          <p:cNvSpPr/>
          <p:nvPr/>
        </p:nvSpPr>
        <p:spPr>
          <a:xfrm>
            <a:off x="9326880" y="2340864"/>
            <a:ext cx="384048" cy="384048"/>
          </a:xfrm>
          <a:prstGeom prst="ellipse">
            <a:avLst/>
          </a:prstGeom>
          <a:solidFill>
            <a:srgbClr val="4B3F9E"/>
          </a:solidFill>
          <a:ln/>
        </p:spPr>
      </p:sp>
      <p:sp>
        <p:nvSpPr>
          <p:cNvPr id="21" name="Text 19"/>
          <p:cNvSpPr/>
          <p:nvPr/>
        </p:nvSpPr>
        <p:spPr>
          <a:xfrm>
            <a:off x="9326880" y="23408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4</a:t>
            </a:r>
            <a:endParaRPr lang="en-US" sz="1300" dirty="0"/>
          </a:p>
        </p:txBody>
      </p:sp>
      <p:sp>
        <p:nvSpPr>
          <p:cNvPr id="22" name="Text 20"/>
          <p:cNvSpPr/>
          <p:nvPr/>
        </p:nvSpPr>
        <p:spPr>
          <a:xfrm>
            <a:off x="9326880" y="2871216"/>
            <a:ext cx="2103120" cy="658368"/>
          </a:xfrm>
          <a:prstGeom prst="rect">
            <a:avLst/>
          </a:prstGeom>
          <a:noFill/>
          <a:ln/>
        </p:spPr>
        <p:txBody>
          <a:bodyPr wrap="square" lIns="0" tIns="0" rIns="0" bIns="0" rtlCol="0" anchor="ctr"/>
          <a:lstStyle/>
          <a:p>
            <a:pPr indent="0" marL="0">
              <a:lnSpc>
                <a:spcPts val="2100"/>
              </a:lnSpc>
              <a:buNone/>
            </a:pPr>
            <a:r>
              <a:rPr lang="en-US" sz="1600" b="1" dirty="0">
                <a:solidFill>
                  <a:srgbClr val="16171D"/>
                </a:solidFill>
                <a:latin typeface="Calibri" pitchFamily="34" charset="0"/>
                <a:ea typeface="Calibri" pitchFamily="34" charset="-122"/>
                <a:cs typeface="Calibri" pitchFamily="34" charset="-120"/>
              </a:rPr>
              <a:t>Checks the bill</a:t>
            </a:r>
            <a:endParaRPr lang="en-US" sz="1600" dirty="0"/>
          </a:p>
        </p:txBody>
      </p:sp>
      <p:sp>
        <p:nvSpPr>
          <p:cNvPr id="23" name="Text 21"/>
          <p:cNvSpPr/>
          <p:nvPr/>
        </p:nvSpPr>
        <p:spPr>
          <a:xfrm>
            <a:off x="9326880" y="3584448"/>
            <a:ext cx="2121408" cy="1508760"/>
          </a:xfrm>
          <a:prstGeom prst="rect">
            <a:avLst/>
          </a:prstGeom>
          <a:noFill/>
          <a:ln/>
        </p:spPr>
        <p:txBody>
          <a:bodyPr wrap="square" lIns="0" tIns="0" rIns="0" bIns="0" rtlCol="0" anchor="ctr"/>
          <a:lstStyle/>
          <a:p>
            <a:pPr indent="0" marL="0">
              <a:lnSpc>
                <a:spcPts val="1600"/>
              </a:lnSpc>
              <a:buNone/>
            </a:pPr>
            <a:r>
              <a:rPr lang="en-US" sz="1200" dirty="0">
                <a:solidFill>
                  <a:srgbClr val="5B6072"/>
                </a:solidFill>
                <a:latin typeface="Calibri" pitchFamily="34" charset="0"/>
                <a:ea typeface="Calibri" pitchFamily="34" charset="-122"/>
                <a:cs typeface="Calibri" pitchFamily="34" charset="-120"/>
              </a:rPr>
              <a:t>Every line on an invoice against the agreement as it now stands: payable under the contract, payable because it was agreed by email, or payable by nobody.</a:t>
            </a:r>
            <a:endParaRPr lang="en-US" sz="1200" dirty="0"/>
          </a:p>
        </p:txBody>
      </p:sp>
      <p:sp>
        <p:nvSpPr>
          <p:cNvPr id="24" name="Text 22"/>
          <p:cNvSpPr/>
          <p:nvPr/>
        </p:nvSpPr>
        <p:spPr>
          <a:xfrm>
            <a:off x="640080" y="5532120"/>
            <a:ext cx="10881360" cy="365760"/>
          </a:xfrm>
          <a:prstGeom prst="rect">
            <a:avLst/>
          </a:prstGeom>
          <a:noFill/>
          <a:ln/>
        </p:spPr>
        <p:txBody>
          <a:bodyPr wrap="square" lIns="0" tIns="0" rIns="0" bIns="0" rtlCol="0" anchor="ctr"/>
          <a:lstStyle/>
          <a:p>
            <a:pPr indent="0" marL="0">
              <a:buNone/>
            </a:pPr>
            <a:r>
              <a:rPr lang="en-US" sz="1500" i="1" dirty="0">
                <a:solidFill>
                  <a:srgbClr val="4B3F9E"/>
                </a:solidFill>
                <a:latin typeface="Calibri" pitchFamily="34" charset="0"/>
                <a:ea typeface="Calibri" pitchFamily="34" charset="-122"/>
                <a:cs typeface="Calibri" pitchFamily="34" charset="-120"/>
              </a:rPr>
              <a:t>It acts, but only into drafts — and never sends.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3F7"/>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spc="140" kern="0" dirty="0">
                <a:solidFill>
                  <a:srgbClr val="4B3F9E"/>
                </a:solidFill>
                <a:latin typeface="Courier New" pitchFamily="34" charset="0"/>
                <a:ea typeface="Courier New" pitchFamily="34" charset="-122"/>
                <a:cs typeface="Courier New" pitchFamily="34" charset="-120"/>
              </a:rPr>
              <a:t>THE MOMENT THAT SELLS IT</a:t>
            </a:r>
            <a:endParaRPr lang="en-US" sz="1100" dirty="0"/>
          </a:p>
        </p:txBody>
      </p:sp>
      <p:sp>
        <p:nvSpPr>
          <p:cNvPr id="3" name="Text 1"/>
          <p:cNvSpPr/>
          <p:nvPr/>
        </p:nvSpPr>
        <p:spPr>
          <a:xfrm>
            <a:off x="640080" y="658368"/>
            <a:ext cx="10881360" cy="1280160"/>
          </a:xfrm>
          <a:prstGeom prst="rect">
            <a:avLst/>
          </a:prstGeom>
          <a:noFill/>
          <a:ln/>
        </p:spPr>
        <p:txBody>
          <a:bodyPr wrap="square" lIns="0" tIns="0" rIns="0" bIns="0" rtlCol="0" anchor="t"/>
          <a:lstStyle/>
          <a:p>
            <a:pPr indent="0" marL="0">
              <a:buNone/>
            </a:pPr>
            <a:r>
              <a:rPr lang="en-US" sz="3800" b="1" dirty="0">
                <a:solidFill>
                  <a:srgbClr val="16171D"/>
                </a:solidFill>
                <a:latin typeface="Cambria" pitchFamily="34" charset="0"/>
                <a:ea typeface="Cambria" pitchFamily="34" charset="-122"/>
                <a:cs typeface="Cambria" pitchFamily="34" charset="-120"/>
              </a:rPr>
              <a:t>It flagged the slip before the client did</a:t>
            </a:r>
            <a:endParaRPr lang="en-US" sz="3800" dirty="0"/>
          </a:p>
        </p:txBody>
      </p:sp>
      <p:sp>
        <p:nvSpPr>
          <p:cNvPr id="4" name="Shape 2"/>
          <p:cNvSpPr/>
          <p:nvPr/>
        </p:nvSpPr>
        <p:spPr>
          <a:xfrm>
            <a:off x="640080" y="1965960"/>
            <a:ext cx="5257800" cy="1691640"/>
          </a:xfrm>
          <a:prstGeom prst="roundRect">
            <a:avLst>
              <a:gd name="adj" fmla="val 1622"/>
            </a:avLst>
          </a:prstGeom>
          <a:solidFill>
            <a:srgbClr val="FFFFFF"/>
          </a:solidFill>
          <a:ln w="12700">
            <a:solidFill>
              <a:srgbClr val="D6D9E3"/>
            </a:solidFill>
            <a:prstDash val="solid"/>
          </a:ln>
        </p:spPr>
      </p:sp>
      <p:sp>
        <p:nvSpPr>
          <p:cNvPr id="5" name="Text 3"/>
          <p:cNvSpPr/>
          <p:nvPr/>
        </p:nvSpPr>
        <p:spPr>
          <a:xfrm>
            <a:off x="914400" y="2212848"/>
            <a:ext cx="4572000" cy="237744"/>
          </a:xfrm>
          <a:prstGeom prst="rect">
            <a:avLst/>
          </a:prstGeom>
          <a:noFill/>
          <a:ln/>
        </p:spPr>
        <p:txBody>
          <a:bodyPr wrap="square" lIns="0" tIns="0" rIns="0" bIns="0" rtlCol="0" anchor="ctr"/>
          <a:lstStyle/>
          <a:p>
            <a:pPr indent="0" marL="0">
              <a:buNone/>
            </a:pPr>
            <a:r>
              <a:rPr lang="en-US" sz="1000" spc="120" kern="0" dirty="0">
                <a:solidFill>
                  <a:srgbClr val="4B3F9E"/>
                </a:solidFill>
                <a:latin typeface="Courier New" pitchFamily="34" charset="0"/>
                <a:ea typeface="Courier New" pitchFamily="34" charset="-122"/>
                <a:cs typeface="Courier New" pitchFamily="34" charset="-120"/>
              </a:rPr>
              <a:t>YOU · 12 AUGUST</a:t>
            </a:r>
            <a:endParaRPr lang="en-US" sz="1000" dirty="0"/>
          </a:p>
        </p:txBody>
      </p:sp>
      <p:sp>
        <p:nvSpPr>
          <p:cNvPr id="6" name="Text 4"/>
          <p:cNvSpPr/>
          <p:nvPr/>
        </p:nvSpPr>
        <p:spPr>
          <a:xfrm>
            <a:off x="914400" y="2542032"/>
            <a:ext cx="4709160" cy="822960"/>
          </a:xfrm>
          <a:prstGeom prst="rect">
            <a:avLst/>
          </a:prstGeom>
          <a:noFill/>
          <a:ln/>
        </p:spPr>
        <p:txBody>
          <a:bodyPr wrap="square" lIns="0" tIns="0" rIns="0" bIns="0" rtlCol="0" anchor="ctr"/>
          <a:lstStyle/>
          <a:p>
            <a:pPr indent="0" marL="0">
              <a:lnSpc>
                <a:spcPts val="2200"/>
              </a:lnSpc>
              <a:buNone/>
            </a:pPr>
            <a:r>
              <a:rPr lang="en-US" sz="1600" dirty="0">
                <a:solidFill>
                  <a:srgbClr val="16171D"/>
                </a:solidFill>
                <a:latin typeface="Calibri" pitchFamily="34" charset="0"/>
                <a:ea typeface="Calibri" pitchFamily="34" charset="-122"/>
                <a:cs typeface="Calibri" pitchFamily="34" charset="-120"/>
              </a:rPr>
              <a:t>“I'll get the Collections page to you by Friday.”</a:t>
            </a:r>
            <a:endParaRPr lang="en-US" sz="1600" dirty="0"/>
          </a:p>
        </p:txBody>
      </p:sp>
      <p:sp>
        <p:nvSpPr>
          <p:cNvPr id="7" name="Shape 5"/>
          <p:cNvSpPr/>
          <p:nvPr/>
        </p:nvSpPr>
        <p:spPr>
          <a:xfrm>
            <a:off x="640080" y="3886200"/>
            <a:ext cx="5257800" cy="1691640"/>
          </a:xfrm>
          <a:prstGeom prst="roundRect">
            <a:avLst>
              <a:gd name="adj" fmla="val 1622"/>
            </a:avLst>
          </a:prstGeom>
          <a:solidFill>
            <a:srgbClr val="FFFFFF"/>
          </a:solidFill>
          <a:ln w="12700">
            <a:solidFill>
              <a:srgbClr val="D6D9E3"/>
            </a:solidFill>
            <a:prstDash val="solid"/>
          </a:ln>
        </p:spPr>
      </p:sp>
      <p:sp>
        <p:nvSpPr>
          <p:cNvPr id="8" name="Text 6"/>
          <p:cNvSpPr/>
          <p:nvPr/>
        </p:nvSpPr>
        <p:spPr>
          <a:xfrm>
            <a:off x="914400" y="4133088"/>
            <a:ext cx="4572000" cy="237744"/>
          </a:xfrm>
          <a:prstGeom prst="rect">
            <a:avLst/>
          </a:prstGeom>
          <a:noFill/>
          <a:ln/>
        </p:spPr>
        <p:txBody>
          <a:bodyPr wrap="square" lIns="0" tIns="0" rIns="0" bIns="0" rtlCol="0" anchor="ctr"/>
          <a:lstStyle/>
          <a:p>
            <a:pPr indent="0" marL="0">
              <a:buNone/>
            </a:pPr>
            <a:r>
              <a:rPr lang="en-US" sz="1000" spc="120" kern="0" dirty="0">
                <a:solidFill>
                  <a:srgbClr val="B3341F"/>
                </a:solidFill>
                <a:latin typeface="Courier New" pitchFamily="34" charset="0"/>
                <a:ea typeface="Courier New" pitchFamily="34" charset="-122"/>
                <a:cs typeface="Courier New" pitchFamily="34" charset="-120"/>
              </a:rPr>
              <a:t>CLIENT · 19 AUGUST</a:t>
            </a:r>
            <a:endParaRPr lang="en-US" sz="1000" dirty="0"/>
          </a:p>
        </p:txBody>
      </p:sp>
      <p:sp>
        <p:nvSpPr>
          <p:cNvPr id="9" name="Text 7"/>
          <p:cNvSpPr/>
          <p:nvPr/>
        </p:nvSpPr>
        <p:spPr>
          <a:xfrm>
            <a:off x="914400" y="4462272"/>
            <a:ext cx="4709160" cy="822960"/>
          </a:xfrm>
          <a:prstGeom prst="rect">
            <a:avLst/>
          </a:prstGeom>
          <a:noFill/>
          <a:ln/>
        </p:spPr>
        <p:txBody>
          <a:bodyPr wrap="square" lIns="0" tIns="0" rIns="0" bIns="0" rtlCol="0" anchor="ctr"/>
          <a:lstStyle/>
          <a:p>
            <a:pPr indent="0" marL="0">
              <a:lnSpc>
                <a:spcPts val="2200"/>
              </a:lnSpc>
              <a:buNone/>
            </a:pPr>
            <a:r>
              <a:rPr lang="en-US" sz="1600" dirty="0">
                <a:solidFill>
                  <a:srgbClr val="16171D"/>
                </a:solidFill>
                <a:latin typeface="Calibri" pitchFamily="34" charset="0"/>
                <a:ea typeface="Calibri" pitchFamily="34" charset="-122"/>
                <a:cs typeface="Calibri" pitchFamily="34" charset="-120"/>
              </a:rPr>
              <a:t>“Any luck with the Collections page? You'd mentioned Friday…”</a:t>
            </a:r>
            <a:endParaRPr lang="en-US" sz="1600" dirty="0"/>
          </a:p>
        </p:txBody>
      </p:sp>
      <p:sp>
        <p:nvSpPr>
          <p:cNvPr id="10" name="Shape 8"/>
          <p:cNvSpPr/>
          <p:nvPr/>
        </p:nvSpPr>
        <p:spPr>
          <a:xfrm>
            <a:off x="6263640" y="1965960"/>
            <a:ext cx="5257800" cy="3611880"/>
          </a:xfrm>
          <a:prstGeom prst="roundRect">
            <a:avLst>
              <a:gd name="adj" fmla="val 759"/>
            </a:avLst>
          </a:prstGeom>
          <a:solidFill>
            <a:srgbClr val="2E2569"/>
          </a:solidFill>
          <a:ln w="12700">
            <a:solidFill>
              <a:srgbClr val="D6D9E3"/>
            </a:solidFill>
            <a:prstDash val="solid"/>
          </a:ln>
        </p:spPr>
      </p:sp>
      <p:sp>
        <p:nvSpPr>
          <p:cNvPr id="11" name="Text 9"/>
          <p:cNvSpPr/>
          <p:nvPr/>
        </p:nvSpPr>
        <p:spPr>
          <a:xfrm>
            <a:off x="6537960" y="2286000"/>
            <a:ext cx="4663440" cy="256032"/>
          </a:xfrm>
          <a:prstGeom prst="rect">
            <a:avLst/>
          </a:prstGeom>
          <a:noFill/>
          <a:ln/>
        </p:spPr>
        <p:txBody>
          <a:bodyPr wrap="square" lIns="0" tIns="0" rIns="0" bIns="0" rtlCol="0" anchor="ctr"/>
          <a:lstStyle/>
          <a:p>
            <a:pPr indent="0" marL="0">
              <a:buNone/>
            </a:pPr>
            <a:r>
              <a:rPr lang="en-US" sz="1000" spc="130" kern="0" dirty="0">
                <a:solidFill>
                  <a:srgbClr val="A9A2D8"/>
                </a:solidFill>
                <a:latin typeface="Courier New" pitchFamily="34" charset="0"/>
                <a:ea typeface="Courier New" pitchFamily="34" charset="-122"/>
                <a:cs typeface="Courier New" pitchFamily="34" charset="-120"/>
              </a:rPr>
              <a:t>THE LEDGER, ON 14 AUGUST</a:t>
            </a:r>
            <a:endParaRPr lang="en-US" sz="1000" dirty="0"/>
          </a:p>
        </p:txBody>
      </p:sp>
      <p:sp>
        <p:nvSpPr>
          <p:cNvPr id="12" name="Text 10"/>
          <p:cNvSpPr/>
          <p:nvPr/>
        </p:nvSpPr>
        <p:spPr>
          <a:xfrm>
            <a:off x="6537960" y="2697480"/>
            <a:ext cx="1828800" cy="292608"/>
          </a:xfrm>
          <a:prstGeom prst="rect">
            <a:avLst/>
          </a:prstGeom>
          <a:noFill/>
          <a:ln/>
        </p:spPr>
        <p:txBody>
          <a:bodyPr wrap="square" lIns="0" tIns="0" rIns="0" bIns="0" rtlCol="0" anchor="ctr"/>
          <a:lstStyle/>
          <a:p>
            <a:pPr indent="0" marL="0">
              <a:buNone/>
            </a:pPr>
            <a:r>
              <a:rPr lang="en-US" sz="1300" b="1" spc="120" kern="0" dirty="0">
                <a:solidFill>
                  <a:srgbClr val="FF9C87"/>
                </a:solidFill>
                <a:latin typeface="Courier New" pitchFamily="34" charset="0"/>
                <a:ea typeface="Courier New" pitchFamily="34" charset="-122"/>
                <a:cs typeface="Courier New" pitchFamily="34" charset="-120"/>
              </a:rPr>
              <a:t>OVERDUE</a:t>
            </a:r>
            <a:endParaRPr lang="en-US" sz="1300" dirty="0"/>
          </a:p>
        </p:txBody>
      </p:sp>
      <p:sp>
        <p:nvSpPr>
          <p:cNvPr id="13" name="Text 11"/>
          <p:cNvSpPr/>
          <p:nvPr/>
        </p:nvSpPr>
        <p:spPr>
          <a:xfrm>
            <a:off x="6537960" y="3127248"/>
            <a:ext cx="4663440" cy="1280160"/>
          </a:xfrm>
          <a:prstGeom prst="rect">
            <a:avLst/>
          </a:prstGeom>
          <a:noFill/>
          <a:ln/>
        </p:spPr>
        <p:txBody>
          <a:bodyPr wrap="square" lIns="0" tIns="0" rIns="0" bIns="0" rtlCol="0" anchor="ctr"/>
          <a:lstStyle/>
          <a:p>
            <a:pPr indent="0" marL="0">
              <a:lnSpc>
                <a:spcPts val="3000"/>
              </a:lnSpc>
              <a:buNone/>
            </a:pPr>
            <a:r>
              <a:rPr lang="en-US" sz="2100" dirty="0">
                <a:solidFill>
                  <a:srgbClr val="FFFFFF"/>
                </a:solidFill>
                <a:latin typeface="Cambria" pitchFamily="34" charset="0"/>
                <a:ea typeface="Cambria" pitchFamily="34" charset="-122"/>
                <a:cs typeface="Cambria" pitchFamily="34" charset="-120"/>
              </a:rPr>
              <a:t>Collections page</a:t>
            </a:r>
            <a:endParaRPr lang="en-US" sz="2100" dirty="0"/>
          </a:p>
          <a:p>
            <a:pPr indent="0" marL="0">
              <a:lnSpc>
                <a:spcPts val="3000"/>
              </a:lnSpc>
              <a:buNone/>
            </a:pPr>
            <a:r>
              <a:rPr lang="en-US" sz="2100" dirty="0">
                <a:solidFill>
                  <a:srgbClr val="FFFFFF"/>
                </a:solidFill>
                <a:latin typeface="Cambria" pitchFamily="34" charset="0"/>
                <a:ea typeface="Cambria" pitchFamily="34" charset="-122"/>
                <a:cs typeface="Cambria" pitchFamily="34" charset="-120"/>
              </a:rPr>
              <a:t>due 14 August</a:t>
            </a:r>
            <a:endParaRPr lang="en-US" sz="2100" dirty="0"/>
          </a:p>
          <a:p>
            <a:pPr indent="0" marL="0">
              <a:lnSpc>
                <a:spcPts val="3000"/>
              </a:lnSpc>
              <a:buNone/>
            </a:pPr>
            <a:r>
              <a:rPr lang="en-US" sz="2100" dirty="0">
                <a:solidFill>
                  <a:srgbClr val="FFFFFF"/>
                </a:solidFill>
                <a:latin typeface="Cambria" pitchFamily="34" charset="0"/>
                <a:ea typeface="Cambria" pitchFamily="34" charset="-122"/>
                <a:cs typeface="Cambria" pitchFamily="34" charset="-120"/>
              </a:rPr>
              <a:t>not delivered</a:t>
            </a:r>
            <a:endParaRPr lang="en-US" sz="2100" dirty="0"/>
          </a:p>
        </p:txBody>
      </p:sp>
      <p:sp>
        <p:nvSpPr>
          <p:cNvPr id="14" name="Text 12"/>
          <p:cNvSpPr/>
          <p:nvPr/>
        </p:nvSpPr>
        <p:spPr>
          <a:xfrm>
            <a:off x="6537960" y="4709160"/>
            <a:ext cx="4663440" cy="365760"/>
          </a:xfrm>
          <a:prstGeom prst="rect">
            <a:avLst/>
          </a:prstGeom>
          <a:noFill/>
          <a:ln/>
        </p:spPr>
        <p:txBody>
          <a:bodyPr wrap="square" lIns="0" tIns="0" rIns="0" bIns="0" rtlCol="0" anchor="ctr"/>
          <a:lstStyle/>
          <a:p>
            <a:pPr indent="0" marL="0">
              <a:buNone/>
            </a:pPr>
            <a:r>
              <a:rPr lang="en-US" sz="1400" i="1" dirty="0">
                <a:solidFill>
                  <a:srgbClr val="A9A2D8"/>
                </a:solidFill>
                <a:latin typeface="Calibri" pitchFamily="34" charset="0"/>
                <a:ea typeface="Calibri" pitchFamily="34" charset="-122"/>
                <a:cs typeface="Calibri" pitchFamily="34" charset="-120"/>
              </a:rPr>
              <a:t>Five days before the client asked.</a:t>
            </a:r>
            <a:endParaRPr lang="en-US" sz="1400" dirty="0"/>
          </a:p>
        </p:txBody>
      </p:sp>
      <p:sp>
        <p:nvSpPr>
          <p:cNvPr id="15" name="Text 13"/>
          <p:cNvSpPr/>
          <p:nvPr/>
        </p:nvSpPr>
        <p:spPr>
          <a:xfrm>
            <a:off x="640080" y="5806440"/>
            <a:ext cx="10881360" cy="457200"/>
          </a:xfrm>
          <a:prstGeom prst="rect">
            <a:avLst/>
          </a:prstGeom>
          <a:noFill/>
          <a:ln/>
        </p:spPr>
        <p:txBody>
          <a:bodyPr wrap="square" lIns="0" tIns="0" rIns="0" bIns="0" rtlCol="0" anchor="ctr"/>
          <a:lstStyle/>
          <a:p>
            <a:pPr indent="0" marL="0">
              <a:lnSpc>
                <a:spcPts val="1700"/>
              </a:lnSpc>
              <a:buNone/>
            </a:pPr>
            <a:r>
              <a:rPr lang="en-US" sz="1300" dirty="0">
                <a:solidFill>
                  <a:srgbClr val="5B6072"/>
                </a:solidFill>
                <a:latin typeface="Calibri" pitchFamily="34" charset="0"/>
                <a:ea typeface="Calibri" pitchFamily="34" charset="-122"/>
                <a:cs typeface="Calibri" pitchFamily="34" charset="-120"/>
              </a:rPr>
              <a:t>“Soon” is recorded too — no date, marked vague, quoting the word you actually used. That is the promise that goes missing.</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3F7"/>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spc="140" kern="0" dirty="0">
                <a:solidFill>
                  <a:srgbClr val="4B3F9E"/>
                </a:solidFill>
                <a:latin typeface="Courier New" pitchFamily="34" charset="0"/>
                <a:ea typeface="Courier New" pitchFamily="34" charset="-122"/>
                <a:cs typeface="Courier New" pitchFamily="34" charset="-120"/>
              </a:rPr>
              <a:t>WHAT HAPPENS AFTER THEY SAY YES</a:t>
            </a:r>
            <a:endParaRPr lang="en-US" sz="1100" dirty="0"/>
          </a:p>
        </p:txBody>
      </p:sp>
      <p:sp>
        <p:nvSpPr>
          <p:cNvPr id="3" name="Text 1"/>
          <p:cNvSpPr/>
          <p:nvPr/>
        </p:nvSpPr>
        <p:spPr>
          <a:xfrm>
            <a:off x="640080" y="658368"/>
            <a:ext cx="10881360" cy="1280160"/>
          </a:xfrm>
          <a:prstGeom prst="rect">
            <a:avLst/>
          </a:prstGeom>
          <a:noFill/>
          <a:ln/>
        </p:spPr>
        <p:txBody>
          <a:bodyPr wrap="square" lIns="0" tIns="0" rIns="0" bIns="0" rtlCol="0" anchor="t"/>
          <a:lstStyle/>
          <a:p>
            <a:pPr indent="0" marL="0">
              <a:buNone/>
            </a:pPr>
            <a:r>
              <a:rPr lang="en-US" sz="3800" b="1" dirty="0">
                <a:solidFill>
                  <a:srgbClr val="16171D"/>
                </a:solidFill>
                <a:latin typeface="Cambria" pitchFamily="34" charset="0"/>
                <a:ea typeface="Cambria" pitchFamily="34" charset="-122"/>
                <a:cs typeface="Cambria" pitchFamily="34" charset="-120"/>
              </a:rPr>
              <a:t>The contract does not stay signed</a:t>
            </a:r>
            <a:endParaRPr lang="en-US" sz="3800" dirty="0"/>
          </a:p>
        </p:txBody>
      </p:sp>
      <p:sp>
        <p:nvSpPr>
          <p:cNvPr id="4" name="Text 2"/>
          <p:cNvSpPr/>
          <p:nvPr/>
        </p:nvSpPr>
        <p:spPr>
          <a:xfrm>
            <a:off x="640080" y="1627632"/>
            <a:ext cx="10881360" cy="365760"/>
          </a:xfrm>
          <a:prstGeom prst="rect">
            <a:avLst/>
          </a:prstGeom>
          <a:noFill/>
          <a:ln/>
        </p:spPr>
        <p:txBody>
          <a:bodyPr wrap="square" lIns="0" tIns="0" rIns="0" bIns="0" rtlCol="0" anchor="ctr"/>
          <a:lstStyle/>
          <a:p>
            <a:pPr indent="0" marL="0">
              <a:buNone/>
            </a:pPr>
            <a:r>
              <a:rPr lang="en-US" sz="1600" dirty="0">
                <a:solidFill>
                  <a:srgbClr val="5B6072"/>
                </a:solidFill>
                <a:latin typeface="Calibri" pitchFamily="34" charset="0"/>
                <a:ea typeface="Calibri" pitchFamily="34" charset="-122"/>
                <a:cs typeface="Calibri" pitchFamily="34" charset="-120"/>
              </a:rPr>
              <a:t>Scope changes by email. A tool that keeps citing the original document is wrong a week later.</a:t>
            </a:r>
            <a:endParaRPr lang="en-US" sz="1600" dirty="0"/>
          </a:p>
        </p:txBody>
      </p:sp>
      <p:sp>
        <p:nvSpPr>
          <p:cNvPr id="5" name="Shape 3"/>
          <p:cNvSpPr/>
          <p:nvPr/>
        </p:nvSpPr>
        <p:spPr>
          <a:xfrm>
            <a:off x="640080" y="2194560"/>
            <a:ext cx="6858000" cy="1024128"/>
          </a:xfrm>
          <a:prstGeom prst="roundRect">
            <a:avLst>
              <a:gd name="adj" fmla="val 2679"/>
            </a:avLst>
          </a:prstGeom>
          <a:solidFill>
            <a:srgbClr val="FFFFFF"/>
          </a:solidFill>
          <a:ln w="12700">
            <a:solidFill>
              <a:srgbClr val="D6D9E3"/>
            </a:solidFill>
            <a:prstDash val="solid"/>
          </a:ln>
        </p:spPr>
      </p:sp>
      <p:sp>
        <p:nvSpPr>
          <p:cNvPr id="6" name="Text 4"/>
          <p:cNvSpPr/>
          <p:nvPr/>
        </p:nvSpPr>
        <p:spPr>
          <a:xfrm>
            <a:off x="914400" y="2377440"/>
            <a:ext cx="1005840" cy="256032"/>
          </a:xfrm>
          <a:prstGeom prst="rect">
            <a:avLst/>
          </a:prstGeom>
          <a:noFill/>
          <a:ln/>
        </p:spPr>
        <p:txBody>
          <a:bodyPr wrap="square" lIns="0" tIns="0" rIns="0" bIns="0" rtlCol="0" anchor="ctr"/>
          <a:lstStyle/>
          <a:p>
            <a:pPr indent="0" marL="0">
              <a:buNone/>
            </a:pPr>
            <a:r>
              <a:rPr lang="en-US" sz="1000" b="1" spc="110" kern="0" dirty="0">
                <a:solidFill>
                  <a:srgbClr val="B3341F"/>
                </a:solidFill>
                <a:latin typeface="Courier New" pitchFamily="34" charset="0"/>
                <a:ea typeface="Courier New" pitchFamily="34" charset="-122"/>
                <a:cs typeface="Courier New" pitchFamily="34" charset="-120"/>
              </a:rPr>
              <a:t>17 AUG</a:t>
            </a:r>
            <a:endParaRPr lang="en-US" sz="1000" dirty="0"/>
          </a:p>
        </p:txBody>
      </p:sp>
      <p:sp>
        <p:nvSpPr>
          <p:cNvPr id="7" name="Text 5"/>
          <p:cNvSpPr/>
          <p:nvPr/>
        </p:nvSpPr>
        <p:spPr>
          <a:xfrm>
            <a:off x="2011680" y="2331720"/>
            <a:ext cx="5303520" cy="329184"/>
          </a:xfrm>
          <a:prstGeom prst="rect">
            <a:avLst/>
          </a:prstGeom>
          <a:noFill/>
          <a:ln/>
        </p:spPr>
        <p:txBody>
          <a:bodyPr wrap="square" lIns="0" tIns="0" rIns="0" bIns="0" rtlCol="0" anchor="ctr"/>
          <a:lstStyle/>
          <a:p>
            <a:pPr indent="0" marL="0">
              <a:buNone/>
            </a:pPr>
            <a:r>
              <a:rPr lang="en-US" sz="1500" i="1" dirty="0">
                <a:solidFill>
                  <a:srgbClr val="16171D"/>
                </a:solidFill>
                <a:latin typeface="Cambria" pitchFamily="34" charset="0"/>
                <a:ea typeface="Cambria" pitchFamily="34" charset="-122"/>
                <a:cs typeface="Cambria" pitchFamily="34" charset="-120"/>
              </a:rPr>
              <a:t>“the whole site in Hindi”</a:t>
            </a:r>
            <a:endParaRPr lang="en-US" sz="1500" dirty="0"/>
          </a:p>
        </p:txBody>
      </p:sp>
      <p:sp>
        <p:nvSpPr>
          <p:cNvPr id="8" name="Text 6"/>
          <p:cNvSpPr/>
          <p:nvPr/>
        </p:nvSpPr>
        <p:spPr>
          <a:xfrm>
            <a:off x="2011680" y="2706624"/>
            <a:ext cx="5349240" cy="402336"/>
          </a:xfrm>
          <a:prstGeom prst="rect">
            <a:avLst/>
          </a:prstGeom>
          <a:noFill/>
          <a:ln/>
        </p:spPr>
        <p:txBody>
          <a:bodyPr wrap="square" lIns="0" tIns="0" rIns="0" bIns="0" rtlCol="0" anchor="ctr"/>
          <a:lstStyle/>
          <a:p>
            <a:pPr indent="0" marL="0">
              <a:lnSpc>
                <a:spcPts val="1600"/>
              </a:lnSpc>
              <a:buNone/>
            </a:pPr>
            <a:r>
              <a:rPr lang="en-US" sz="1200" dirty="0">
                <a:solidFill>
                  <a:srgbClr val="5B6072"/>
                </a:solidFill>
                <a:latin typeface="Calibri" pitchFamily="34" charset="0"/>
                <a:ea typeface="Calibri" pitchFamily="34" charset="-122"/>
                <a:cs typeface="Calibri" pitchFamily="34" charset="-120"/>
              </a:rPr>
              <a:t>Out of scope — the contract excludes translation.</a:t>
            </a:r>
            <a:endParaRPr lang="en-US" sz="1200" dirty="0"/>
          </a:p>
        </p:txBody>
      </p:sp>
      <p:sp>
        <p:nvSpPr>
          <p:cNvPr id="9" name="Shape 7"/>
          <p:cNvSpPr/>
          <p:nvPr/>
        </p:nvSpPr>
        <p:spPr>
          <a:xfrm>
            <a:off x="640080" y="3401568"/>
            <a:ext cx="6858000" cy="1024128"/>
          </a:xfrm>
          <a:prstGeom prst="roundRect">
            <a:avLst>
              <a:gd name="adj" fmla="val 2679"/>
            </a:avLst>
          </a:prstGeom>
          <a:solidFill>
            <a:srgbClr val="FFFFFF"/>
          </a:solidFill>
          <a:ln w="12700">
            <a:solidFill>
              <a:srgbClr val="D6D9E3"/>
            </a:solidFill>
            <a:prstDash val="solid"/>
          </a:ln>
        </p:spPr>
      </p:sp>
      <p:sp>
        <p:nvSpPr>
          <p:cNvPr id="10" name="Text 8"/>
          <p:cNvSpPr/>
          <p:nvPr/>
        </p:nvSpPr>
        <p:spPr>
          <a:xfrm>
            <a:off x="914400" y="3584448"/>
            <a:ext cx="1005840" cy="256032"/>
          </a:xfrm>
          <a:prstGeom prst="rect">
            <a:avLst/>
          </a:prstGeom>
          <a:noFill/>
          <a:ln/>
        </p:spPr>
        <p:txBody>
          <a:bodyPr wrap="square" lIns="0" tIns="0" rIns="0" bIns="0" rtlCol="0" anchor="ctr"/>
          <a:lstStyle/>
          <a:p>
            <a:pPr indent="0" marL="0">
              <a:buNone/>
            </a:pPr>
            <a:r>
              <a:rPr lang="en-US" sz="1000" b="1" spc="110" kern="0" dirty="0">
                <a:solidFill>
                  <a:srgbClr val="2F6B4F"/>
                </a:solidFill>
                <a:latin typeface="Courier New" pitchFamily="34" charset="0"/>
                <a:ea typeface="Courier New" pitchFamily="34" charset="-122"/>
                <a:cs typeface="Courier New" pitchFamily="34" charset="-120"/>
              </a:rPr>
              <a:t>26 AUG</a:t>
            </a:r>
            <a:endParaRPr lang="en-US" sz="1000" dirty="0"/>
          </a:p>
        </p:txBody>
      </p:sp>
      <p:sp>
        <p:nvSpPr>
          <p:cNvPr id="11" name="Text 9"/>
          <p:cNvSpPr/>
          <p:nvPr/>
        </p:nvSpPr>
        <p:spPr>
          <a:xfrm>
            <a:off x="2011680" y="3538728"/>
            <a:ext cx="5303520" cy="329184"/>
          </a:xfrm>
          <a:prstGeom prst="rect">
            <a:avLst/>
          </a:prstGeom>
          <a:noFill/>
          <a:ln/>
        </p:spPr>
        <p:txBody>
          <a:bodyPr wrap="square" lIns="0" tIns="0" rIns="0" bIns="0" rtlCol="0" anchor="ctr"/>
          <a:lstStyle/>
          <a:p>
            <a:pPr indent="0" marL="0">
              <a:buNone/>
            </a:pPr>
            <a:r>
              <a:rPr lang="en-US" sz="1500" i="1" dirty="0">
                <a:solidFill>
                  <a:srgbClr val="16171D"/>
                </a:solidFill>
                <a:latin typeface="Cambria" pitchFamily="34" charset="0"/>
                <a:ea typeface="Cambria" pitchFamily="34" charset="-122"/>
                <a:cs typeface="Cambria" pitchFamily="34" charset="-120"/>
              </a:rPr>
              <a:t>“we're happy to go ahead at INR 18,000”</a:t>
            </a:r>
            <a:endParaRPr lang="en-US" sz="1500" dirty="0"/>
          </a:p>
        </p:txBody>
      </p:sp>
      <p:sp>
        <p:nvSpPr>
          <p:cNvPr id="12" name="Text 10"/>
          <p:cNvSpPr/>
          <p:nvPr/>
        </p:nvSpPr>
        <p:spPr>
          <a:xfrm>
            <a:off x="2011680" y="3913632"/>
            <a:ext cx="5349240" cy="402336"/>
          </a:xfrm>
          <a:prstGeom prst="rect">
            <a:avLst/>
          </a:prstGeom>
          <a:noFill/>
          <a:ln/>
        </p:spPr>
        <p:txBody>
          <a:bodyPr wrap="square" lIns="0" tIns="0" rIns="0" bIns="0" rtlCol="0" anchor="ctr"/>
          <a:lstStyle/>
          <a:p>
            <a:pPr indent="0" marL="0">
              <a:lnSpc>
                <a:spcPts val="1600"/>
              </a:lnSpc>
              <a:buNone/>
            </a:pPr>
            <a:r>
              <a:rPr lang="en-US" sz="1200" dirty="0">
                <a:solidFill>
                  <a:srgbClr val="5B6072"/>
                </a:solidFill>
                <a:latin typeface="Calibri" pitchFamily="34" charset="0"/>
                <a:ea typeface="Calibri" pitchFamily="34" charset="-122"/>
                <a:cs typeface="Calibri" pitchFamily="34" charset="-120"/>
              </a:rPr>
              <a:t>Scope changes here. Their words become a clause.</a:t>
            </a:r>
            <a:endParaRPr lang="en-US" sz="1200" dirty="0"/>
          </a:p>
        </p:txBody>
      </p:sp>
      <p:sp>
        <p:nvSpPr>
          <p:cNvPr id="13" name="Shape 11"/>
          <p:cNvSpPr/>
          <p:nvPr/>
        </p:nvSpPr>
        <p:spPr>
          <a:xfrm>
            <a:off x="640080" y="4608576"/>
            <a:ext cx="6858000" cy="1024128"/>
          </a:xfrm>
          <a:prstGeom prst="roundRect">
            <a:avLst>
              <a:gd name="adj" fmla="val 2679"/>
            </a:avLst>
          </a:prstGeom>
          <a:solidFill>
            <a:srgbClr val="FFFFFF"/>
          </a:solidFill>
          <a:ln w="12700">
            <a:solidFill>
              <a:srgbClr val="D6D9E3"/>
            </a:solidFill>
            <a:prstDash val="solid"/>
          </a:ln>
        </p:spPr>
      </p:sp>
      <p:sp>
        <p:nvSpPr>
          <p:cNvPr id="14" name="Text 12"/>
          <p:cNvSpPr/>
          <p:nvPr/>
        </p:nvSpPr>
        <p:spPr>
          <a:xfrm>
            <a:off x="914400" y="4791456"/>
            <a:ext cx="1005840" cy="256032"/>
          </a:xfrm>
          <a:prstGeom prst="rect">
            <a:avLst/>
          </a:prstGeom>
          <a:noFill/>
          <a:ln/>
        </p:spPr>
        <p:txBody>
          <a:bodyPr wrap="square" lIns="0" tIns="0" rIns="0" bIns="0" rtlCol="0" anchor="ctr"/>
          <a:lstStyle/>
          <a:p>
            <a:pPr indent="0" marL="0">
              <a:buNone/>
            </a:pPr>
            <a:r>
              <a:rPr lang="en-US" sz="1000" b="1" spc="110" kern="0" dirty="0">
                <a:solidFill>
                  <a:srgbClr val="2F6B4F"/>
                </a:solidFill>
                <a:latin typeface="Courier New" pitchFamily="34" charset="0"/>
                <a:ea typeface="Courier New" pitchFamily="34" charset="-122"/>
                <a:cs typeface="Courier New" pitchFamily="34" charset="-120"/>
              </a:rPr>
              <a:t>27 AUG</a:t>
            </a:r>
            <a:endParaRPr lang="en-US" sz="1000" dirty="0"/>
          </a:p>
        </p:txBody>
      </p:sp>
      <p:sp>
        <p:nvSpPr>
          <p:cNvPr id="15" name="Text 13"/>
          <p:cNvSpPr/>
          <p:nvPr/>
        </p:nvSpPr>
        <p:spPr>
          <a:xfrm>
            <a:off x="2011680" y="4745736"/>
            <a:ext cx="5303520" cy="329184"/>
          </a:xfrm>
          <a:prstGeom prst="rect">
            <a:avLst/>
          </a:prstGeom>
          <a:noFill/>
          <a:ln/>
        </p:spPr>
        <p:txBody>
          <a:bodyPr wrap="square" lIns="0" tIns="0" rIns="0" bIns="0" rtlCol="0" anchor="ctr"/>
          <a:lstStyle/>
          <a:p>
            <a:pPr indent="0" marL="0">
              <a:buNone/>
            </a:pPr>
            <a:r>
              <a:rPr lang="en-US" sz="1500" i="1" dirty="0">
                <a:solidFill>
                  <a:srgbClr val="16171D"/>
                </a:solidFill>
                <a:latin typeface="Cambria" pitchFamily="34" charset="0"/>
                <a:ea typeface="Cambria" pitchFamily="34" charset="-122"/>
                <a:cs typeface="Cambria" pitchFamily="34" charset="-120"/>
              </a:rPr>
              <a:t>“can Hindi prices use Devanagari numerals?”</a:t>
            </a:r>
            <a:endParaRPr lang="en-US" sz="1500" dirty="0"/>
          </a:p>
        </p:txBody>
      </p:sp>
      <p:sp>
        <p:nvSpPr>
          <p:cNvPr id="16" name="Text 14"/>
          <p:cNvSpPr/>
          <p:nvPr/>
        </p:nvSpPr>
        <p:spPr>
          <a:xfrm>
            <a:off x="2011680" y="5120640"/>
            <a:ext cx="5349240" cy="402336"/>
          </a:xfrm>
          <a:prstGeom prst="rect">
            <a:avLst/>
          </a:prstGeom>
          <a:noFill/>
          <a:ln/>
        </p:spPr>
        <p:txBody>
          <a:bodyPr wrap="square" lIns="0" tIns="0" rIns="0" bIns="0" rtlCol="0" anchor="ctr"/>
          <a:lstStyle/>
          <a:p>
            <a:pPr indent="0" marL="0">
              <a:lnSpc>
                <a:spcPts val="1600"/>
              </a:lnSpc>
              <a:buNone/>
            </a:pPr>
            <a:r>
              <a:rPr lang="en-US" sz="1200" dirty="0">
                <a:solidFill>
                  <a:srgbClr val="5B6072"/>
                </a:solidFill>
                <a:latin typeface="Calibri" pitchFamily="34" charset="0"/>
                <a:ea typeface="Calibri" pitchFamily="34" charset="-122"/>
                <a:cs typeface="Calibri" pitchFamily="34" charset="-120"/>
              </a:rPr>
              <a:t>In scope — under the amendment, not the contract.</a:t>
            </a:r>
            <a:endParaRPr lang="en-US" sz="1200" dirty="0"/>
          </a:p>
        </p:txBody>
      </p:sp>
      <p:sp>
        <p:nvSpPr>
          <p:cNvPr id="17" name="Shape 15"/>
          <p:cNvSpPr/>
          <p:nvPr/>
        </p:nvSpPr>
        <p:spPr>
          <a:xfrm>
            <a:off x="7863840" y="2194560"/>
            <a:ext cx="3657600" cy="3621024"/>
          </a:xfrm>
          <a:prstGeom prst="roundRect">
            <a:avLst>
              <a:gd name="adj" fmla="val 758"/>
            </a:avLst>
          </a:prstGeom>
          <a:solidFill>
            <a:srgbClr val="2E2569"/>
          </a:solidFill>
          <a:ln w="12700">
            <a:solidFill>
              <a:srgbClr val="D6D9E3"/>
            </a:solidFill>
            <a:prstDash val="solid"/>
          </a:ln>
        </p:spPr>
      </p:sp>
      <p:sp>
        <p:nvSpPr>
          <p:cNvPr id="18" name="Text 16"/>
          <p:cNvSpPr/>
          <p:nvPr/>
        </p:nvSpPr>
        <p:spPr>
          <a:xfrm>
            <a:off x="8138160" y="2468880"/>
            <a:ext cx="3108960" cy="256032"/>
          </a:xfrm>
          <a:prstGeom prst="rect">
            <a:avLst/>
          </a:prstGeom>
          <a:noFill/>
          <a:ln/>
        </p:spPr>
        <p:txBody>
          <a:bodyPr wrap="square" lIns="0" tIns="0" rIns="0" bIns="0" rtlCol="0" anchor="ctr"/>
          <a:lstStyle/>
          <a:p>
            <a:pPr indent="0" marL="0">
              <a:buNone/>
            </a:pPr>
            <a:r>
              <a:rPr lang="en-US" sz="1000" spc="130" kern="0" dirty="0">
                <a:solidFill>
                  <a:srgbClr val="A9A2D8"/>
                </a:solidFill>
                <a:latin typeface="Courier New" pitchFamily="34" charset="0"/>
                <a:ea typeface="Courier New" pitchFamily="34" charset="-122"/>
                <a:cs typeface="Courier New" pitchFamily="34" charset="-120"/>
              </a:rPr>
              <a:t>WHO MAY WIDEN SCOPE</a:t>
            </a:r>
            <a:endParaRPr lang="en-US" sz="1000" dirty="0"/>
          </a:p>
        </p:txBody>
      </p:sp>
      <p:sp>
        <p:nvSpPr>
          <p:cNvPr id="19" name="Text 17"/>
          <p:cNvSpPr/>
          <p:nvPr/>
        </p:nvSpPr>
        <p:spPr>
          <a:xfrm>
            <a:off x="8138160" y="2852928"/>
            <a:ext cx="3154680" cy="868680"/>
          </a:xfrm>
          <a:prstGeom prst="rect">
            <a:avLst/>
          </a:prstGeom>
          <a:noFill/>
          <a:ln/>
        </p:spPr>
        <p:txBody>
          <a:bodyPr wrap="square" lIns="0" tIns="0" rIns="0" bIns="0" rtlCol="0" anchor="ctr"/>
          <a:lstStyle/>
          <a:p>
            <a:pPr indent="0" marL="0">
              <a:lnSpc>
                <a:spcPts val="2700"/>
              </a:lnSpc>
              <a:buNone/>
            </a:pPr>
            <a:r>
              <a:rPr lang="en-US" sz="2100" dirty="0">
                <a:solidFill>
                  <a:srgbClr val="FFFFFF"/>
                </a:solidFill>
                <a:latin typeface="Cambria" pitchFamily="34" charset="0"/>
                <a:ea typeface="Cambria" pitchFamily="34" charset="-122"/>
                <a:cs typeface="Cambria" pitchFamily="34" charset="-120"/>
              </a:rPr>
              <a:t>Only the side that pays.</a:t>
            </a:r>
            <a:endParaRPr lang="en-US" sz="2100" dirty="0"/>
          </a:p>
        </p:txBody>
      </p:sp>
      <p:sp>
        <p:nvSpPr>
          <p:cNvPr id="20" name="Text 18"/>
          <p:cNvSpPr/>
          <p:nvPr/>
        </p:nvSpPr>
        <p:spPr>
          <a:xfrm>
            <a:off x="8138160" y="3840480"/>
            <a:ext cx="3154680" cy="1188720"/>
          </a:xfrm>
          <a:prstGeom prst="rect">
            <a:avLst/>
          </a:prstGeom>
          <a:noFill/>
          <a:ln/>
        </p:spPr>
        <p:txBody>
          <a:bodyPr wrap="square" lIns="0" tIns="0" rIns="0" bIns="0" rtlCol="0" anchor="ctr"/>
          <a:lstStyle/>
          <a:p>
            <a:pPr indent="0" marL="0">
              <a:lnSpc>
                <a:spcPts val="1600"/>
              </a:lnSpc>
              <a:buNone/>
            </a:pPr>
            <a:r>
              <a:rPr lang="en-US" sz="1200" dirty="0">
                <a:solidFill>
                  <a:srgbClr val="CFC9F2"/>
                </a:solidFill>
                <a:latin typeface="Calibri" pitchFamily="34" charset="0"/>
                <a:ea typeface="Calibri" pitchFamily="34" charset="-122"/>
                <a:cs typeface="Calibri" pitchFamily="34" charset="-120"/>
              </a:rPr>
              <a:t>A contractor writing “great, I'll start Monday” is enthusiasm, not agreement. That rule is in the code, because a model asked whether somebody agreed will find agreement in warmth.</a:t>
            </a:r>
            <a:endParaRPr lang="en-US" sz="1200" dirty="0"/>
          </a:p>
        </p:txBody>
      </p:sp>
      <p:sp>
        <p:nvSpPr>
          <p:cNvPr id="21" name="Text 19"/>
          <p:cNvSpPr/>
          <p:nvPr/>
        </p:nvSpPr>
        <p:spPr>
          <a:xfrm>
            <a:off x="8138160" y="5029200"/>
            <a:ext cx="3108960" cy="237744"/>
          </a:xfrm>
          <a:prstGeom prst="rect">
            <a:avLst/>
          </a:prstGeom>
          <a:noFill/>
          <a:ln/>
        </p:spPr>
        <p:txBody>
          <a:bodyPr wrap="square" lIns="0" tIns="0" rIns="0" bIns="0" rtlCol="0" anchor="ctr"/>
          <a:lstStyle/>
          <a:p>
            <a:pPr indent="0" marL="0">
              <a:buNone/>
            </a:pPr>
            <a:r>
              <a:rPr lang="en-US" sz="1000" spc="130" kern="0" dirty="0">
                <a:solidFill>
                  <a:srgbClr val="A9A2D8"/>
                </a:solidFill>
                <a:latin typeface="Courier New" pitchFamily="34" charset="0"/>
                <a:ea typeface="Courier New" pitchFamily="34" charset="-122"/>
                <a:cs typeface="Courier New" pitchFamily="34" charset="-120"/>
              </a:rPr>
              <a:t>AND WHEN THE BILL ARRIVES</a:t>
            </a:r>
            <a:endParaRPr lang="en-US" sz="1000" dirty="0"/>
          </a:p>
        </p:txBody>
      </p:sp>
      <p:sp>
        <p:nvSpPr>
          <p:cNvPr id="22" name="Text 20"/>
          <p:cNvSpPr/>
          <p:nvPr/>
        </p:nvSpPr>
        <p:spPr>
          <a:xfrm>
            <a:off x="8138160" y="5321808"/>
            <a:ext cx="3154680" cy="548640"/>
          </a:xfrm>
          <a:prstGeom prst="rect">
            <a:avLst/>
          </a:prstGeom>
          <a:noFill/>
          <a:ln/>
        </p:spPr>
        <p:txBody>
          <a:bodyPr wrap="square" lIns="0" tIns="0" rIns="0" bIns="0" rtlCol="0" anchor="ctr"/>
          <a:lstStyle/>
          <a:p>
            <a:pPr indent="0" marL="0">
              <a:lnSpc>
                <a:spcPts val="1600"/>
              </a:lnSpc>
              <a:buNone/>
            </a:pPr>
            <a:r>
              <a:rPr lang="en-US" sz="1200" dirty="0">
                <a:solidFill>
                  <a:srgbClr val="FFFFFF"/>
                </a:solidFill>
                <a:latin typeface="Calibri" pitchFamily="34" charset="0"/>
                <a:ea typeface="Calibri" pitchFamily="34" charset="-122"/>
                <a:cs typeface="Calibri" pitchFamily="34" charset="-120"/>
              </a:rPr>
              <a:t>That line is payable — cited to their email, not the contract.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3F7"/>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spc="140" kern="0" dirty="0">
                <a:solidFill>
                  <a:srgbClr val="4B3F9E"/>
                </a:solidFill>
                <a:latin typeface="Courier New" pitchFamily="34" charset="0"/>
                <a:ea typeface="Courier New" pitchFamily="34" charset="-122"/>
                <a:cs typeface="Courier New" pitchFamily="34" charset="-120"/>
              </a:rPr>
              <a:t>TRUST</a:t>
            </a:r>
            <a:endParaRPr lang="en-US" sz="1100" dirty="0"/>
          </a:p>
        </p:txBody>
      </p:sp>
      <p:sp>
        <p:nvSpPr>
          <p:cNvPr id="3" name="Text 1"/>
          <p:cNvSpPr/>
          <p:nvPr/>
        </p:nvSpPr>
        <p:spPr>
          <a:xfrm>
            <a:off x="640080" y="658368"/>
            <a:ext cx="10881360" cy="1280160"/>
          </a:xfrm>
          <a:prstGeom prst="rect">
            <a:avLst/>
          </a:prstGeom>
          <a:noFill/>
          <a:ln/>
        </p:spPr>
        <p:txBody>
          <a:bodyPr wrap="square" lIns="0" tIns="0" rIns="0" bIns="0" rtlCol="0" anchor="t"/>
          <a:lstStyle/>
          <a:p>
            <a:pPr indent="0" marL="0">
              <a:buNone/>
            </a:pPr>
            <a:r>
              <a:rPr lang="en-US" sz="3800" b="1" dirty="0">
                <a:solidFill>
                  <a:srgbClr val="16171D"/>
                </a:solidFill>
                <a:latin typeface="Cambria" pitchFamily="34" charset="0"/>
                <a:ea typeface="Cambria" pitchFamily="34" charset="-122"/>
                <a:cs typeface="Cambria" pitchFamily="34" charset="-120"/>
              </a:rPr>
              <a:t>What it refuses to do</a:t>
            </a:r>
            <a:endParaRPr lang="en-US" sz="3800" dirty="0"/>
          </a:p>
        </p:txBody>
      </p:sp>
      <p:sp>
        <p:nvSpPr>
          <p:cNvPr id="4" name="Text 2"/>
          <p:cNvSpPr/>
          <p:nvPr/>
        </p:nvSpPr>
        <p:spPr>
          <a:xfrm>
            <a:off x="640080" y="1645920"/>
            <a:ext cx="10881360" cy="365760"/>
          </a:xfrm>
          <a:prstGeom prst="rect">
            <a:avLst/>
          </a:prstGeom>
          <a:noFill/>
          <a:ln/>
        </p:spPr>
        <p:txBody>
          <a:bodyPr wrap="square" lIns="0" tIns="0" rIns="0" bIns="0" rtlCol="0" anchor="ctr"/>
          <a:lstStyle/>
          <a:p>
            <a:pPr indent="0" marL="0">
              <a:buNone/>
            </a:pPr>
            <a:r>
              <a:rPr lang="en-US" sz="1600" dirty="0">
                <a:solidFill>
                  <a:srgbClr val="5B6072"/>
                </a:solidFill>
                <a:latin typeface="Calibri" pitchFamily="34" charset="0"/>
                <a:ea typeface="Calibri" pitchFamily="34" charset="-122"/>
                <a:cs typeface="Calibri" pitchFamily="34" charset="-120"/>
              </a:rPr>
              <a:t>Three rails, enforced in code and covered by tests — not asked for in a prompt.</a:t>
            </a:r>
            <a:endParaRPr lang="en-US" sz="1600" dirty="0"/>
          </a:p>
        </p:txBody>
      </p:sp>
      <p:sp>
        <p:nvSpPr>
          <p:cNvPr id="5" name="Shape 3"/>
          <p:cNvSpPr/>
          <p:nvPr/>
        </p:nvSpPr>
        <p:spPr>
          <a:xfrm>
            <a:off x="640080" y="2194560"/>
            <a:ext cx="6949440" cy="841248"/>
          </a:xfrm>
          <a:prstGeom prst="roundRect">
            <a:avLst>
              <a:gd name="adj" fmla="val 3261"/>
            </a:avLst>
          </a:prstGeom>
          <a:solidFill>
            <a:srgbClr val="FFFFFF"/>
          </a:solidFill>
          <a:ln w="12700">
            <a:solidFill>
              <a:srgbClr val="D6D9E3"/>
            </a:solidFill>
            <a:prstDash val="solid"/>
          </a:ln>
        </p:spPr>
      </p:sp>
      <p:sp>
        <p:nvSpPr>
          <p:cNvPr id="6" name="Shape 4"/>
          <p:cNvSpPr/>
          <p:nvPr/>
        </p:nvSpPr>
        <p:spPr>
          <a:xfrm>
            <a:off x="914400" y="2432304"/>
            <a:ext cx="365760" cy="365760"/>
          </a:xfrm>
          <a:prstGeom prst="ellipse">
            <a:avLst/>
          </a:prstGeom>
          <a:solidFill>
            <a:srgbClr val="B3341F"/>
          </a:solidFill>
          <a:ln/>
        </p:spPr>
      </p:sp>
      <p:sp>
        <p:nvSpPr>
          <p:cNvPr id="7" name="Text 5"/>
          <p:cNvSpPr/>
          <p:nvPr/>
        </p:nvSpPr>
        <p:spPr>
          <a:xfrm>
            <a:off x="914400" y="243230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8" name="Text 6"/>
          <p:cNvSpPr/>
          <p:nvPr/>
        </p:nvSpPr>
        <p:spPr>
          <a:xfrm>
            <a:off x="1463040" y="2295144"/>
            <a:ext cx="5852160" cy="274320"/>
          </a:xfrm>
          <a:prstGeom prst="rect">
            <a:avLst/>
          </a:prstGeom>
          <a:noFill/>
          <a:ln/>
        </p:spPr>
        <p:txBody>
          <a:bodyPr wrap="square" lIns="0" tIns="0" rIns="0" bIns="0" rtlCol="0" anchor="ctr"/>
          <a:lstStyle/>
          <a:p>
            <a:pPr indent="0" marL="0">
              <a:buNone/>
            </a:pPr>
            <a:r>
              <a:rPr lang="en-US" sz="1550" b="1" dirty="0">
                <a:solidFill>
                  <a:srgbClr val="16171D"/>
                </a:solidFill>
                <a:latin typeface="Calibri" pitchFamily="34" charset="0"/>
                <a:ea typeface="Calibri" pitchFamily="34" charset="-122"/>
                <a:cs typeface="Calibri" pitchFamily="34" charset="-120"/>
              </a:rPr>
              <a:t>Never sends</a:t>
            </a:r>
            <a:endParaRPr lang="en-US" sz="1550" dirty="0"/>
          </a:p>
        </p:txBody>
      </p:sp>
      <p:sp>
        <p:nvSpPr>
          <p:cNvPr id="9" name="Text 7"/>
          <p:cNvSpPr/>
          <p:nvPr/>
        </p:nvSpPr>
        <p:spPr>
          <a:xfrm>
            <a:off x="1463040" y="2587752"/>
            <a:ext cx="5943600" cy="402336"/>
          </a:xfrm>
          <a:prstGeom prst="rect">
            <a:avLst/>
          </a:prstGeom>
          <a:noFill/>
          <a:ln/>
        </p:spPr>
        <p:txBody>
          <a:bodyPr wrap="square" lIns="0" tIns="0" rIns="0" bIns="0" rtlCol="0" anchor="ctr"/>
          <a:lstStyle/>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Drafts are created and stop there. The Gmail scope would permit sending; the codebase has no send path, and a test asserts it.</a:t>
            </a:r>
            <a:endParaRPr lang="en-US" sz="1150" dirty="0"/>
          </a:p>
        </p:txBody>
      </p:sp>
      <p:sp>
        <p:nvSpPr>
          <p:cNvPr id="10" name="Shape 8"/>
          <p:cNvSpPr/>
          <p:nvPr/>
        </p:nvSpPr>
        <p:spPr>
          <a:xfrm>
            <a:off x="640080" y="3154680"/>
            <a:ext cx="6949440" cy="841248"/>
          </a:xfrm>
          <a:prstGeom prst="roundRect">
            <a:avLst>
              <a:gd name="adj" fmla="val 3261"/>
            </a:avLst>
          </a:prstGeom>
          <a:solidFill>
            <a:srgbClr val="FFFFFF"/>
          </a:solidFill>
          <a:ln w="12700">
            <a:solidFill>
              <a:srgbClr val="D6D9E3"/>
            </a:solidFill>
            <a:prstDash val="solid"/>
          </a:ln>
        </p:spPr>
      </p:sp>
      <p:sp>
        <p:nvSpPr>
          <p:cNvPr id="11" name="Shape 9"/>
          <p:cNvSpPr/>
          <p:nvPr/>
        </p:nvSpPr>
        <p:spPr>
          <a:xfrm>
            <a:off x="914400" y="3392424"/>
            <a:ext cx="365760" cy="365760"/>
          </a:xfrm>
          <a:prstGeom prst="ellipse">
            <a:avLst/>
          </a:prstGeom>
          <a:solidFill>
            <a:srgbClr val="B3341F"/>
          </a:solidFill>
          <a:ln/>
        </p:spPr>
      </p:sp>
      <p:sp>
        <p:nvSpPr>
          <p:cNvPr id="12" name="Text 10"/>
          <p:cNvSpPr/>
          <p:nvPr/>
        </p:nvSpPr>
        <p:spPr>
          <a:xfrm>
            <a:off x="914400" y="339242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13" name="Text 11"/>
          <p:cNvSpPr/>
          <p:nvPr/>
        </p:nvSpPr>
        <p:spPr>
          <a:xfrm>
            <a:off x="1463040" y="3255264"/>
            <a:ext cx="5852160" cy="274320"/>
          </a:xfrm>
          <a:prstGeom prst="rect">
            <a:avLst/>
          </a:prstGeom>
          <a:noFill/>
          <a:ln/>
        </p:spPr>
        <p:txBody>
          <a:bodyPr wrap="square" lIns="0" tIns="0" rIns="0" bIns="0" rtlCol="0" anchor="ctr"/>
          <a:lstStyle/>
          <a:p>
            <a:pPr indent="0" marL="0">
              <a:buNone/>
            </a:pPr>
            <a:r>
              <a:rPr lang="en-US" sz="1550" b="1" dirty="0">
                <a:solidFill>
                  <a:srgbClr val="16171D"/>
                </a:solidFill>
                <a:latin typeface="Calibri" pitchFamily="34" charset="0"/>
                <a:ea typeface="Calibri" pitchFamily="34" charset="-122"/>
                <a:cs typeface="Calibri" pitchFamily="34" charset="-120"/>
              </a:rPr>
              <a:t>Never invents money</a:t>
            </a:r>
            <a:endParaRPr lang="en-US" sz="1550" dirty="0"/>
          </a:p>
        </p:txBody>
      </p:sp>
      <p:sp>
        <p:nvSpPr>
          <p:cNvPr id="14" name="Text 12"/>
          <p:cNvSpPr/>
          <p:nvPr/>
        </p:nvSpPr>
        <p:spPr>
          <a:xfrm>
            <a:off x="1463040" y="3547872"/>
            <a:ext cx="5943600" cy="402336"/>
          </a:xfrm>
          <a:prstGeom prst="rect">
            <a:avLst/>
          </a:prstGeom>
          <a:noFill/>
          <a:ln/>
        </p:spPr>
        <p:txBody>
          <a:bodyPr wrap="square" lIns="0" tIns="0" rIns="0" bIns="0" rtlCol="0" anchor="ctr"/>
          <a:lstStyle/>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No fee or percentage may appear in a reply unless it is already in the contract.</a:t>
            </a:r>
            <a:endParaRPr lang="en-US" sz="1150" dirty="0"/>
          </a:p>
        </p:txBody>
      </p:sp>
      <p:sp>
        <p:nvSpPr>
          <p:cNvPr id="15" name="Shape 13"/>
          <p:cNvSpPr/>
          <p:nvPr/>
        </p:nvSpPr>
        <p:spPr>
          <a:xfrm>
            <a:off x="640080" y="4114800"/>
            <a:ext cx="6949440" cy="841248"/>
          </a:xfrm>
          <a:prstGeom prst="roundRect">
            <a:avLst>
              <a:gd name="adj" fmla="val 3261"/>
            </a:avLst>
          </a:prstGeom>
          <a:solidFill>
            <a:srgbClr val="FFFFFF"/>
          </a:solidFill>
          <a:ln w="12700">
            <a:solidFill>
              <a:srgbClr val="D6D9E3"/>
            </a:solidFill>
            <a:prstDash val="solid"/>
          </a:ln>
        </p:spPr>
      </p:sp>
      <p:sp>
        <p:nvSpPr>
          <p:cNvPr id="16" name="Shape 14"/>
          <p:cNvSpPr/>
          <p:nvPr/>
        </p:nvSpPr>
        <p:spPr>
          <a:xfrm>
            <a:off x="914400" y="4352544"/>
            <a:ext cx="365760" cy="365760"/>
          </a:xfrm>
          <a:prstGeom prst="ellipse">
            <a:avLst/>
          </a:prstGeom>
          <a:solidFill>
            <a:srgbClr val="B3341F"/>
          </a:solidFill>
          <a:ln/>
        </p:spPr>
      </p:sp>
      <p:sp>
        <p:nvSpPr>
          <p:cNvPr id="17" name="Text 15"/>
          <p:cNvSpPr/>
          <p:nvPr/>
        </p:nvSpPr>
        <p:spPr>
          <a:xfrm>
            <a:off x="914400" y="4352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18" name="Text 16"/>
          <p:cNvSpPr/>
          <p:nvPr/>
        </p:nvSpPr>
        <p:spPr>
          <a:xfrm>
            <a:off x="1463040" y="4215384"/>
            <a:ext cx="5852160" cy="274320"/>
          </a:xfrm>
          <a:prstGeom prst="rect">
            <a:avLst/>
          </a:prstGeom>
          <a:noFill/>
          <a:ln/>
        </p:spPr>
        <p:txBody>
          <a:bodyPr wrap="square" lIns="0" tIns="0" rIns="0" bIns="0" rtlCol="0" anchor="ctr"/>
          <a:lstStyle/>
          <a:p>
            <a:pPr indent="0" marL="0">
              <a:buNone/>
            </a:pPr>
            <a:r>
              <a:rPr lang="en-US" sz="1550" b="1" dirty="0">
                <a:solidFill>
                  <a:srgbClr val="16171D"/>
                </a:solidFill>
                <a:latin typeface="Calibri" pitchFamily="34" charset="0"/>
                <a:ea typeface="Calibri" pitchFamily="34" charset="-122"/>
                <a:cs typeface="Calibri" pitchFamily="34" charset="-120"/>
              </a:rPr>
              <a:t>Never picks your date</a:t>
            </a:r>
            <a:endParaRPr lang="en-US" sz="1550" dirty="0"/>
          </a:p>
        </p:txBody>
      </p:sp>
      <p:sp>
        <p:nvSpPr>
          <p:cNvPr id="19" name="Text 17"/>
          <p:cNvSpPr/>
          <p:nvPr/>
        </p:nvSpPr>
        <p:spPr>
          <a:xfrm>
            <a:off x="1463040" y="4507992"/>
            <a:ext cx="5943600" cy="402336"/>
          </a:xfrm>
          <a:prstGeom prst="rect">
            <a:avLst/>
          </a:prstGeom>
          <a:noFill/>
          <a:ln/>
        </p:spPr>
        <p:txBody>
          <a:bodyPr wrap="square" lIns="0" tIns="0" rIns="0" bIns="0" rtlCol="0" anchor="ctr"/>
          <a:lstStyle/>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A late-work update leaves the date blank for you, and Approve stays disabled until you fill it. Committing you to a date you never agreed is not the agent's to do.</a:t>
            </a:r>
            <a:endParaRPr lang="en-US" sz="1150" dirty="0"/>
          </a:p>
        </p:txBody>
      </p:sp>
      <p:sp>
        <p:nvSpPr>
          <p:cNvPr id="20" name="Shape 18"/>
          <p:cNvSpPr/>
          <p:nvPr/>
        </p:nvSpPr>
        <p:spPr>
          <a:xfrm>
            <a:off x="640080" y="5074920"/>
            <a:ext cx="6949440" cy="841248"/>
          </a:xfrm>
          <a:prstGeom prst="roundRect">
            <a:avLst>
              <a:gd name="adj" fmla="val 3261"/>
            </a:avLst>
          </a:prstGeom>
          <a:solidFill>
            <a:srgbClr val="FFFFFF"/>
          </a:solidFill>
          <a:ln w="12700">
            <a:solidFill>
              <a:srgbClr val="D6D9E3"/>
            </a:solidFill>
            <a:prstDash val="solid"/>
          </a:ln>
        </p:spPr>
      </p:sp>
      <p:sp>
        <p:nvSpPr>
          <p:cNvPr id="21" name="Shape 19"/>
          <p:cNvSpPr/>
          <p:nvPr/>
        </p:nvSpPr>
        <p:spPr>
          <a:xfrm>
            <a:off x="914400" y="5312664"/>
            <a:ext cx="365760" cy="365760"/>
          </a:xfrm>
          <a:prstGeom prst="ellipse">
            <a:avLst/>
          </a:prstGeom>
          <a:solidFill>
            <a:srgbClr val="B3341F"/>
          </a:solidFill>
          <a:ln/>
        </p:spPr>
      </p:sp>
      <p:sp>
        <p:nvSpPr>
          <p:cNvPr id="22" name="Text 20"/>
          <p:cNvSpPr/>
          <p:nvPr/>
        </p:nvSpPr>
        <p:spPr>
          <a:xfrm>
            <a:off x="914400" y="531266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23" name="Text 21"/>
          <p:cNvSpPr/>
          <p:nvPr/>
        </p:nvSpPr>
        <p:spPr>
          <a:xfrm>
            <a:off x="1463040" y="5175504"/>
            <a:ext cx="5852160" cy="274320"/>
          </a:xfrm>
          <a:prstGeom prst="rect">
            <a:avLst/>
          </a:prstGeom>
          <a:noFill/>
          <a:ln/>
        </p:spPr>
        <p:txBody>
          <a:bodyPr wrap="square" lIns="0" tIns="0" rIns="0" bIns="0" rtlCol="0" anchor="ctr"/>
          <a:lstStyle/>
          <a:p>
            <a:pPr indent="0" marL="0">
              <a:buNone/>
            </a:pPr>
            <a:r>
              <a:rPr lang="en-US" sz="1550" b="1" dirty="0">
                <a:solidFill>
                  <a:srgbClr val="16171D"/>
                </a:solidFill>
                <a:latin typeface="Calibri" pitchFamily="34" charset="0"/>
                <a:ea typeface="Calibri" pitchFamily="34" charset="-122"/>
                <a:cs typeface="Calibri" pitchFamily="34" charset="-120"/>
              </a:rPr>
              <a:t>Never guesses a deadline</a:t>
            </a:r>
            <a:endParaRPr lang="en-US" sz="1550" dirty="0"/>
          </a:p>
        </p:txBody>
      </p:sp>
      <p:sp>
        <p:nvSpPr>
          <p:cNvPr id="24" name="Text 22"/>
          <p:cNvSpPr/>
          <p:nvPr/>
        </p:nvSpPr>
        <p:spPr>
          <a:xfrm>
            <a:off x="1463040" y="5468112"/>
            <a:ext cx="5943600" cy="402336"/>
          </a:xfrm>
          <a:prstGeom prst="rect">
            <a:avLst/>
          </a:prstGeom>
          <a:noFill/>
          <a:ln/>
        </p:spPr>
        <p:txBody>
          <a:bodyPr wrap="square" lIns="0" tIns="0" rIns="0" bIns="0" rtlCol="0" anchor="ctr"/>
          <a:lstStyle/>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It copies “by Friday” verbatim; code turns that into a date in your timezone. A model asked for a date invents a plausible one.</a:t>
            </a:r>
            <a:endParaRPr lang="en-US" sz="1150" dirty="0"/>
          </a:p>
        </p:txBody>
      </p:sp>
      <p:sp>
        <p:nvSpPr>
          <p:cNvPr id="25" name="Shape 23"/>
          <p:cNvSpPr/>
          <p:nvPr/>
        </p:nvSpPr>
        <p:spPr>
          <a:xfrm>
            <a:off x="7955280" y="2194560"/>
            <a:ext cx="3566160" cy="3520440"/>
          </a:xfrm>
          <a:prstGeom prst="roundRect">
            <a:avLst>
              <a:gd name="adj" fmla="val 779"/>
            </a:avLst>
          </a:prstGeom>
          <a:solidFill>
            <a:srgbClr val="FAF2DF"/>
          </a:solidFill>
          <a:ln w="12700">
            <a:solidFill>
              <a:srgbClr val="D6D9E3"/>
            </a:solidFill>
            <a:prstDash val="solid"/>
          </a:ln>
        </p:spPr>
      </p:sp>
      <p:sp>
        <p:nvSpPr>
          <p:cNvPr id="26" name="Text 24"/>
          <p:cNvSpPr/>
          <p:nvPr/>
        </p:nvSpPr>
        <p:spPr>
          <a:xfrm>
            <a:off x="8229600" y="2468880"/>
            <a:ext cx="3017520" cy="256032"/>
          </a:xfrm>
          <a:prstGeom prst="rect">
            <a:avLst/>
          </a:prstGeom>
          <a:noFill/>
          <a:ln/>
        </p:spPr>
        <p:txBody>
          <a:bodyPr wrap="square" lIns="0" tIns="0" rIns="0" bIns="0" rtlCol="0" anchor="ctr"/>
          <a:lstStyle/>
          <a:p>
            <a:pPr indent="0" marL="0">
              <a:buNone/>
            </a:pPr>
            <a:r>
              <a:rPr lang="en-US" sz="1000" spc="120" kern="0" dirty="0">
                <a:solidFill>
                  <a:srgbClr val="8A6516"/>
                </a:solidFill>
                <a:latin typeface="Courier New" pitchFamily="34" charset="0"/>
                <a:ea typeface="Courier New" pitchFamily="34" charset="-122"/>
                <a:cs typeface="Courier New" pitchFamily="34" charset="-120"/>
              </a:rPr>
              <a:t>AND WHEN IT ISN'T SURE</a:t>
            </a:r>
            <a:endParaRPr lang="en-US" sz="1000" dirty="0"/>
          </a:p>
        </p:txBody>
      </p:sp>
      <p:sp>
        <p:nvSpPr>
          <p:cNvPr id="27" name="Text 25"/>
          <p:cNvSpPr/>
          <p:nvPr/>
        </p:nvSpPr>
        <p:spPr>
          <a:xfrm>
            <a:off x="8229600" y="2926080"/>
            <a:ext cx="3063240" cy="914400"/>
          </a:xfrm>
          <a:prstGeom prst="rect">
            <a:avLst/>
          </a:prstGeom>
          <a:noFill/>
          <a:ln/>
        </p:spPr>
        <p:txBody>
          <a:bodyPr wrap="square" lIns="0" tIns="0" rIns="0" bIns="0" rtlCol="0" anchor="ctr"/>
          <a:lstStyle/>
          <a:p>
            <a:pPr indent="0" marL="0">
              <a:lnSpc>
                <a:spcPts val="2400"/>
              </a:lnSpc>
              <a:buNone/>
            </a:pPr>
            <a:r>
              <a:rPr lang="en-US" sz="1700" i="1" dirty="0">
                <a:solidFill>
                  <a:srgbClr val="16171D"/>
                </a:solidFill>
                <a:latin typeface="Cambria" pitchFamily="34" charset="0"/>
                <a:ea typeface="Cambria" pitchFamily="34" charset="-122"/>
                <a:cs typeface="Cambria" pitchFamily="34" charset="-120"/>
              </a:rPr>
              <a:t>“Could the logo animate a little?”</a:t>
            </a:r>
            <a:endParaRPr lang="en-US" sz="1700" dirty="0"/>
          </a:p>
        </p:txBody>
      </p:sp>
      <p:sp>
        <p:nvSpPr>
          <p:cNvPr id="28" name="Text 26"/>
          <p:cNvSpPr/>
          <p:nvPr/>
        </p:nvSpPr>
        <p:spPr>
          <a:xfrm>
            <a:off x="8229600" y="3977640"/>
            <a:ext cx="3063240" cy="1097280"/>
          </a:xfrm>
          <a:prstGeom prst="rect">
            <a:avLst/>
          </a:prstGeom>
          <a:noFill/>
          <a:ln/>
        </p:spPr>
        <p:txBody>
          <a:bodyPr wrap="square" lIns="0" tIns="0" rIns="0" bIns="0" rtlCol="0" anchor="ctr"/>
          <a:lstStyle/>
          <a:p>
            <a:pPr indent="0" marL="0">
              <a:lnSpc>
                <a:spcPts val="1700"/>
              </a:lnSpc>
              <a:buNone/>
            </a:pPr>
            <a:r>
              <a:rPr lang="en-US" sz="1250" dirty="0">
                <a:solidFill>
                  <a:srgbClr val="5B6072"/>
                </a:solidFill>
                <a:latin typeface="Calibri" pitchFamily="34" charset="0"/>
                <a:ea typeface="Calibri" pitchFamily="34" charset="-122"/>
                <a:cs typeface="Calibri" pitchFamily="34" charset="-120"/>
              </a:rPr>
              <a:t>Small enough that it might sit inside an existing deliverable. The agent writes no draft. It asks you.</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3F7"/>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spc="140" kern="0" dirty="0">
                <a:solidFill>
                  <a:srgbClr val="4B3F9E"/>
                </a:solidFill>
                <a:latin typeface="Courier New" pitchFamily="34" charset="0"/>
                <a:ea typeface="Courier New" pitchFamily="34" charset="-122"/>
                <a:cs typeface="Courier New" pitchFamily="34" charset="-120"/>
              </a:rPr>
              <a:t>DID YOU OVERFIT TO YOUR OWN DEMO?</a:t>
            </a:r>
            <a:endParaRPr lang="en-US" sz="1100" dirty="0"/>
          </a:p>
        </p:txBody>
      </p:sp>
      <p:sp>
        <p:nvSpPr>
          <p:cNvPr id="3" name="Text 1"/>
          <p:cNvSpPr/>
          <p:nvPr/>
        </p:nvSpPr>
        <p:spPr>
          <a:xfrm>
            <a:off x="640080" y="658368"/>
            <a:ext cx="10881360" cy="1280160"/>
          </a:xfrm>
          <a:prstGeom prst="rect">
            <a:avLst/>
          </a:prstGeom>
          <a:noFill/>
          <a:ln/>
        </p:spPr>
        <p:txBody>
          <a:bodyPr wrap="square" lIns="0" tIns="0" rIns="0" bIns="0" rtlCol="0" anchor="t"/>
          <a:lstStyle/>
          <a:p>
            <a:pPr indent="0" marL="0">
              <a:buNone/>
            </a:pPr>
            <a:r>
              <a:rPr lang="en-US" sz="3800" b="1" dirty="0">
                <a:solidFill>
                  <a:srgbClr val="16171D"/>
                </a:solidFill>
                <a:latin typeface="Cambria" pitchFamily="34" charset="0"/>
                <a:ea typeface="Cambria" pitchFamily="34" charset="-122"/>
                <a:cs typeface="Cambria" pitchFamily="34" charset="-120"/>
              </a:rPr>
              <a:t>Two contracts. No prompt changes.</a:t>
            </a:r>
            <a:endParaRPr lang="en-US" sz="3800" dirty="0"/>
          </a:p>
        </p:txBody>
      </p:sp>
      <p:sp>
        <p:nvSpPr>
          <p:cNvPr id="4" name="Text 2"/>
          <p:cNvSpPr/>
          <p:nvPr/>
        </p:nvSpPr>
        <p:spPr>
          <a:xfrm>
            <a:off x="640080" y="1627632"/>
            <a:ext cx="10881360" cy="548640"/>
          </a:xfrm>
          <a:prstGeom prst="rect">
            <a:avLst/>
          </a:prstGeom>
          <a:noFill/>
          <a:ln/>
        </p:spPr>
        <p:txBody>
          <a:bodyPr wrap="square" lIns="0" tIns="0" rIns="0" bIns="0" rtlCol="0" anchor="ctr"/>
          <a:lstStyle/>
          <a:p>
            <a:pPr indent="0" marL="0">
              <a:lnSpc>
                <a:spcPts val="1900"/>
              </a:lnSpc>
              <a:buNone/>
            </a:pPr>
            <a:r>
              <a:rPr lang="en-US" sz="1400" dirty="0">
                <a:solidFill>
                  <a:srgbClr val="5B6072"/>
                </a:solidFill>
                <a:latin typeface="Calibri" pitchFamily="34" charset="0"/>
                <a:ea typeface="Calibri" pitchFamily="34" charset="-122"/>
                <a:cs typeface="Calibri" pitchFamily="34" charset="-120"/>
              </a:rPr>
              <a:t>The second was written to break the first one's assumptions: prose instead of lists, exclusions buried mid-paragraph under no heading, dollars instead of rupees, a timezone west of UTC.</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2395728"/>
          <a:ext cx="7680960" cy="914400"/>
        </p:xfrm>
        <a:graphic>
          <a:graphicData uri="http://schemas.openxmlformats.org/drawingml/2006/table">
            <a:tbl>
              <a:tblPr/>
              <a:tblGrid>
                <a:gridCol w="3200400"/>
                <a:gridCol w="2240280"/>
                <a:gridCol w="2240280"/>
              </a:tblGrid>
              <a:tr h="310896">
                <a:tc>
                  <a:txBody>
                    <a:bodyPr/>
                    <a:lstStyle/>
                    <a:p>
                      <a:pPr algn="l" indent="0" marL="0">
                        <a:buNone/>
                      </a:pPr>
                      <a:endParaRPr lang="en-US" sz="1050" dirty="0">
                        <a:latin typeface="Calibri" charset="0"/>
                        <a:ea typeface="Calibri" charset="0"/>
                        <a:cs typeface="Calibri"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050" b="1" spc="110" kern="0" dirty="0">
                          <a:solidFill>
                            <a:srgbClr val="4B3F9E"/>
                          </a:solidFill>
                          <a:latin typeface="Calibri" pitchFamily="34" charset="0"/>
                          <a:ea typeface="Calibri" pitchFamily="34" charset="-122"/>
                          <a:cs typeface="Calibri" pitchFamily="34" charset="-120"/>
                        </a:rPr>
                        <a:t>WEBSITE BUILD</a:t>
                      </a:r>
                      <a:endParaRPr lang="en-US" sz="1050" dirty="0">
                        <a:latin typeface="Calibri" charset="0"/>
                        <a:ea typeface="Calibri" charset="0"/>
                        <a:cs typeface="Calibri"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050" b="1" spc="110" kern="0" dirty="0">
                          <a:solidFill>
                            <a:srgbClr val="4B3F9E"/>
                          </a:solidFill>
                          <a:latin typeface="Calibri" pitchFamily="34" charset="0"/>
                          <a:ea typeface="Calibri" pitchFamily="34" charset="-122"/>
                          <a:cs typeface="Calibri" pitchFamily="34" charset="-120"/>
                        </a:rPr>
                        <a:t>DATA PIPELINE</a:t>
                      </a:r>
                      <a:endParaRPr lang="en-US" sz="1050" dirty="0">
                        <a:latin typeface="Calibri" charset="0"/>
                        <a:ea typeface="Calibri" charset="0"/>
                        <a:cs typeface="Calibri"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6171D"/>
                          </a:solidFill>
                          <a:latin typeface="Calibri" pitchFamily="34" charset="0"/>
                          <a:ea typeface="Calibri" pitchFamily="34" charset="-122"/>
                          <a:cs typeface="Calibri" pitchFamily="34" charset="-120"/>
                        </a:rPr>
                        <a:t>Contract style</a:t>
                      </a:r>
                      <a:endParaRPr lang="en-US" sz="1200" dirty="0">
                        <a:latin typeface="Calibri" charset="0"/>
                        <a:ea typeface="Calibri" charset="0"/>
                        <a:cs typeface="Calibri"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sections, explicit list</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prose, buried in text</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6171D"/>
                          </a:solidFill>
                          <a:latin typeface="Calibri" pitchFamily="34" charset="0"/>
                          <a:ea typeface="Calibri" pitchFamily="34" charset="-122"/>
                          <a:cs typeface="Calibri" pitchFamily="34" charset="-120"/>
                        </a:rPr>
                        <a:t>Money / timezone</a:t>
                      </a:r>
                      <a:endParaRPr lang="en-US" sz="1200" dirty="0">
                        <a:latin typeface="Calibri" charset="0"/>
                        <a:ea typeface="Calibri" charset="0"/>
                        <a:cs typeface="Calibri"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INR fixed · +5:30</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USD hourly · −4:00</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6171D"/>
                          </a:solidFill>
                          <a:latin typeface="Calibri" pitchFamily="34" charset="0"/>
                          <a:ea typeface="Calibri" pitchFamily="34" charset="-122"/>
                          <a:cs typeface="Calibri" pitchFamily="34" charset="-120"/>
                        </a:rPr>
                        <a:t>Scope items extracted</a:t>
                      </a:r>
                      <a:endParaRPr lang="en-US" sz="1200" dirty="0">
                        <a:latin typeface="Calibri" charset="0"/>
                        <a:ea typeface="Calibri" charset="0"/>
                        <a:cs typeface="Calibri"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14</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13</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6171D"/>
                          </a:solidFill>
                          <a:latin typeface="Calibri" pitchFamily="34" charset="0"/>
                          <a:ea typeface="Calibri" pitchFamily="34" charset="-122"/>
                          <a:cs typeface="Calibri" pitchFamily="34" charset="-120"/>
                        </a:rPr>
                        <a:t>Unverifiable quotes</a:t>
                      </a:r>
                      <a:endParaRPr lang="en-US" sz="1200" dirty="0">
                        <a:latin typeface="Calibri" charset="0"/>
                        <a:ea typeface="Calibri" charset="0"/>
                        <a:cs typeface="Calibri"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0</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0</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6171D"/>
                          </a:solidFill>
                          <a:latin typeface="Calibri" pitchFamily="34" charset="0"/>
                          <a:ea typeface="Calibri" pitchFamily="34" charset="-122"/>
                          <a:cs typeface="Calibri" pitchFamily="34" charset="-120"/>
                        </a:rPr>
                        <a:t>Exclusions found</a:t>
                      </a:r>
                      <a:endParaRPr lang="en-US" sz="1200" dirty="0">
                        <a:latin typeface="Calibri" charset="0"/>
                        <a:ea typeface="Calibri" charset="0"/>
                        <a:cs typeface="Calibri"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3 of 3</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4 of 4</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6171D"/>
                          </a:solidFill>
                          <a:latin typeface="Calibri" pitchFamily="34" charset="0"/>
                          <a:ea typeface="Calibri" pitchFamily="34" charset="-122"/>
                          <a:cs typeface="Calibri" pitchFamily="34" charset="-120"/>
                        </a:rPr>
                        <a:t>Verdicts rejected</a:t>
                      </a:r>
                      <a:endParaRPr lang="en-US" sz="1200" dirty="0">
                        <a:latin typeface="Calibri" charset="0"/>
                        <a:ea typeface="Calibri" charset="0"/>
                        <a:cs typeface="Calibri"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0 of 20</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0 of 16</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6171D"/>
                          </a:solidFill>
                          <a:latin typeface="Calibri" pitchFamily="34" charset="0"/>
                          <a:ea typeface="Calibri" pitchFamily="34" charset="-122"/>
                          <a:cs typeface="Calibri" pitchFamily="34" charset="-120"/>
                        </a:rPr>
                        <a:t>“Unsure” verdicts</a:t>
                      </a:r>
                      <a:endParaRPr lang="en-US" sz="1200" dirty="0">
                        <a:latin typeface="Calibri" charset="0"/>
                        <a:ea typeface="Calibri" charset="0"/>
                        <a:cs typeface="Calibri"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1</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1</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6171D"/>
                          </a:solidFill>
                          <a:latin typeface="Calibri" pitchFamily="34" charset="0"/>
                          <a:ea typeface="Calibri" pitchFamily="34" charset="-122"/>
                          <a:cs typeface="Calibri" pitchFamily="34" charset="-120"/>
                        </a:rPr>
                        <a:t>Drafts refused by rails</a:t>
                      </a:r>
                      <a:endParaRPr lang="en-US" sz="1200" dirty="0">
                        <a:latin typeface="Calibri" charset="0"/>
                        <a:ea typeface="Calibri" charset="0"/>
                        <a:cs typeface="Calibri"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0</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0</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r>
            </a:tbl>
          </a:graphicData>
        </a:graphic>
      </p:graphicFrame>
      <p:sp>
        <p:nvSpPr>
          <p:cNvPr id="6" name="Shape 3"/>
          <p:cNvSpPr/>
          <p:nvPr/>
        </p:nvSpPr>
        <p:spPr>
          <a:xfrm>
            <a:off x="8641080" y="2395728"/>
            <a:ext cx="2880360" cy="2798064"/>
          </a:xfrm>
          <a:prstGeom prst="roundRect">
            <a:avLst>
              <a:gd name="adj" fmla="val 980"/>
            </a:avLst>
          </a:prstGeom>
          <a:solidFill>
            <a:srgbClr val="2E2569"/>
          </a:solidFill>
          <a:ln w="12700">
            <a:solidFill>
              <a:srgbClr val="D6D9E3"/>
            </a:solidFill>
            <a:prstDash val="solid"/>
          </a:ln>
        </p:spPr>
      </p:sp>
      <p:sp>
        <p:nvSpPr>
          <p:cNvPr id="7" name="Text 4"/>
          <p:cNvSpPr/>
          <p:nvPr/>
        </p:nvSpPr>
        <p:spPr>
          <a:xfrm>
            <a:off x="8887968" y="2633472"/>
            <a:ext cx="2423160" cy="64008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10 / 10</a:t>
            </a:r>
            <a:endParaRPr lang="en-US" sz="3400" dirty="0"/>
          </a:p>
        </p:txBody>
      </p:sp>
      <p:sp>
        <p:nvSpPr>
          <p:cNvPr id="8" name="Text 5"/>
          <p:cNvSpPr/>
          <p:nvPr/>
        </p:nvSpPr>
        <p:spPr>
          <a:xfrm>
            <a:off x="8887968" y="3346704"/>
            <a:ext cx="2423160" cy="2103120"/>
          </a:xfrm>
          <a:prstGeom prst="rect">
            <a:avLst/>
          </a:prstGeom>
          <a:noFill/>
          <a:ln/>
        </p:spPr>
        <p:txBody>
          <a:bodyPr wrap="square" lIns="0" tIns="0" rIns="0" bIns="0" rtlCol="0" anchor="ctr"/>
          <a:lstStyle/>
          <a:p>
            <a:pPr indent="0" marL="0">
              <a:lnSpc>
                <a:spcPts val="1500"/>
              </a:lnSpc>
              <a:buNone/>
            </a:pPr>
            <a:r>
              <a:rPr lang="en-US" sz="1150" dirty="0">
                <a:solidFill>
                  <a:srgbClr val="CFC9F2"/>
                </a:solidFill>
                <a:latin typeface="Calibri" pitchFamily="34" charset="0"/>
                <a:ea typeface="Calibri" pitchFamily="34" charset="-122"/>
                <a:cs typeface="Calibri" pitchFamily="34" charset="-120"/>
              </a:rPr>
              <a:t>The borderline message in each thread returns “unsure”. Five consecutive runs each, temperature pinned.</a:t>
            </a:r>
            <a:endParaRPr lang="en-US" sz="1150" dirty="0"/>
          </a:p>
          <a:p>
            <a:pPr indent="0" marL="0">
              <a:lnSpc>
                <a:spcPts val="1500"/>
              </a:lnSpc>
              <a:buNone/>
            </a:pPr>
            <a:endParaRPr lang="en-US" sz="1150" dirty="0"/>
          </a:p>
          <a:p>
            <a:pPr indent="0" marL="0">
              <a:lnSpc>
                <a:spcPts val="1500"/>
              </a:lnSpc>
              <a:buNone/>
            </a:pPr>
            <a:r>
              <a:rPr lang="en-US" sz="1150" dirty="0">
                <a:solidFill>
                  <a:srgbClr val="CFC9F2"/>
                </a:solidFill>
                <a:latin typeface="Calibri" pitchFamily="34" charset="0"/>
                <a:ea typeface="Calibri" pitchFamily="34" charset="-122"/>
                <a:cs typeface="Calibri" pitchFamily="34" charset="-120"/>
              </a:rPr>
              <a:t>We first claimed this from one run. Re-running proved it wasn't true yet.</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3F7"/>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spc="140" kern="0" dirty="0">
                <a:solidFill>
                  <a:srgbClr val="4B3F9E"/>
                </a:solidFill>
                <a:latin typeface="Courier New" pitchFamily="34" charset="0"/>
                <a:ea typeface="Courier New" pitchFamily="34" charset="-122"/>
                <a:cs typeface="Courier New" pitchFamily="34" charset="-120"/>
              </a:rPr>
              <a:t>HOW WE KNOW IT WORKS</a:t>
            </a:r>
            <a:endParaRPr lang="en-US" sz="1100" dirty="0"/>
          </a:p>
        </p:txBody>
      </p:sp>
      <p:sp>
        <p:nvSpPr>
          <p:cNvPr id="3" name="Text 1"/>
          <p:cNvSpPr/>
          <p:nvPr/>
        </p:nvSpPr>
        <p:spPr>
          <a:xfrm>
            <a:off x="640080" y="658368"/>
            <a:ext cx="10881360" cy="1280160"/>
          </a:xfrm>
          <a:prstGeom prst="rect">
            <a:avLst/>
          </a:prstGeom>
          <a:noFill/>
          <a:ln/>
        </p:spPr>
        <p:txBody>
          <a:bodyPr wrap="square" lIns="0" tIns="0" rIns="0" bIns="0" rtlCol="0" anchor="t"/>
          <a:lstStyle/>
          <a:p>
            <a:pPr indent="0" marL="0">
              <a:buNone/>
            </a:pPr>
            <a:r>
              <a:rPr lang="en-US" sz="3800" b="1" dirty="0">
                <a:solidFill>
                  <a:srgbClr val="16171D"/>
                </a:solidFill>
                <a:latin typeface="Cambria" pitchFamily="34" charset="0"/>
                <a:ea typeface="Cambria" pitchFamily="34" charset="-122"/>
                <a:cs typeface="Cambria" pitchFamily="34" charset="-120"/>
              </a:rPr>
              <a:t>We measure it, and measuring keeps finding bugs</a:t>
            </a:r>
            <a:endParaRPr lang="en-US" sz="3800" dirty="0"/>
          </a:p>
        </p:txBody>
      </p:sp>
      <p:sp>
        <p:nvSpPr>
          <p:cNvPr id="4" name="Text 2"/>
          <p:cNvSpPr/>
          <p:nvPr/>
        </p:nvSpPr>
        <p:spPr>
          <a:xfrm>
            <a:off x="640080" y="1645920"/>
            <a:ext cx="10881360" cy="365760"/>
          </a:xfrm>
          <a:prstGeom prst="rect">
            <a:avLst/>
          </a:prstGeom>
          <a:noFill/>
          <a:ln/>
        </p:spPr>
        <p:txBody>
          <a:bodyPr wrap="square" lIns="0" tIns="0" rIns="0" bIns="0" rtlCol="0" anchor="ctr"/>
          <a:lstStyle/>
          <a:p>
            <a:pPr indent="0" marL="0">
              <a:buNone/>
            </a:pPr>
            <a:r>
              <a:rPr lang="en-US" sz="1500" dirty="0">
                <a:solidFill>
                  <a:srgbClr val="5B6072"/>
                </a:solidFill>
                <a:latin typeface="Calibri" pitchFamily="34" charset="0"/>
                <a:ea typeface="Calibri" pitchFamily="34" charset="-122"/>
                <a:cs typeface="Calibri" pitchFamily="34" charset="-120"/>
              </a:rPr>
              <a:t>Every claim on the previous slide comes from a harness, not from watching one demo go well.</a:t>
            </a:r>
            <a:endParaRPr lang="en-US" sz="1500" dirty="0"/>
          </a:p>
        </p:txBody>
      </p:sp>
      <p:sp>
        <p:nvSpPr>
          <p:cNvPr id="5" name="Shape 3"/>
          <p:cNvSpPr/>
          <p:nvPr/>
        </p:nvSpPr>
        <p:spPr>
          <a:xfrm>
            <a:off x="640080" y="2240280"/>
            <a:ext cx="7315200" cy="1005840"/>
          </a:xfrm>
          <a:prstGeom prst="roundRect">
            <a:avLst>
              <a:gd name="adj" fmla="val 2727"/>
            </a:avLst>
          </a:prstGeom>
          <a:solidFill>
            <a:srgbClr val="FFFFFF"/>
          </a:solidFill>
          <a:ln w="12700">
            <a:solidFill>
              <a:srgbClr val="D6D9E3"/>
            </a:solidFill>
            <a:prstDash val="solid"/>
          </a:ln>
        </p:spPr>
      </p:sp>
      <p:sp>
        <p:nvSpPr>
          <p:cNvPr id="6" name="Shape 4"/>
          <p:cNvSpPr/>
          <p:nvPr/>
        </p:nvSpPr>
        <p:spPr>
          <a:xfrm>
            <a:off x="914400" y="2542032"/>
            <a:ext cx="365760" cy="365760"/>
          </a:xfrm>
          <a:prstGeom prst="ellipse">
            <a:avLst/>
          </a:prstGeom>
          <a:solidFill>
            <a:srgbClr val="4B3F9E"/>
          </a:solidFill>
          <a:ln/>
        </p:spPr>
      </p:sp>
      <p:sp>
        <p:nvSpPr>
          <p:cNvPr id="7" name="Text 5"/>
          <p:cNvSpPr/>
          <p:nvPr/>
        </p:nvSpPr>
        <p:spPr>
          <a:xfrm>
            <a:off x="914400" y="25420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1</a:t>
            </a:r>
            <a:endParaRPr lang="en-US" sz="1300" dirty="0"/>
          </a:p>
        </p:txBody>
      </p:sp>
      <p:sp>
        <p:nvSpPr>
          <p:cNvPr id="8" name="Text 6"/>
          <p:cNvSpPr/>
          <p:nvPr/>
        </p:nvSpPr>
        <p:spPr>
          <a:xfrm>
            <a:off x="1463040" y="2377440"/>
            <a:ext cx="6263640" cy="274320"/>
          </a:xfrm>
          <a:prstGeom prst="rect">
            <a:avLst/>
          </a:prstGeom>
          <a:noFill/>
          <a:ln/>
        </p:spPr>
        <p:txBody>
          <a:bodyPr wrap="square" lIns="0" tIns="0" rIns="0" bIns="0" rtlCol="0" anchor="ctr"/>
          <a:lstStyle/>
          <a:p>
            <a:pPr indent="0" marL="0">
              <a:buNone/>
            </a:pPr>
            <a:r>
              <a:rPr lang="en-US" sz="1550" b="1" dirty="0">
                <a:solidFill>
                  <a:srgbClr val="16171D"/>
                </a:solidFill>
                <a:latin typeface="Calibri" pitchFamily="34" charset="0"/>
                <a:ea typeface="Calibri" pitchFamily="34" charset="-122"/>
                <a:cs typeface="Calibri" pitchFamily="34" charset="-120"/>
              </a:rPr>
              <a:t>Dates off by one, west of UTC</a:t>
            </a:r>
            <a:endParaRPr lang="en-US" sz="1550" dirty="0"/>
          </a:p>
        </p:txBody>
      </p:sp>
      <p:sp>
        <p:nvSpPr>
          <p:cNvPr id="9" name="Text 7"/>
          <p:cNvSpPr/>
          <p:nvPr/>
        </p:nvSpPr>
        <p:spPr>
          <a:xfrm>
            <a:off x="1463040" y="2697480"/>
            <a:ext cx="6309360" cy="475488"/>
          </a:xfrm>
          <a:prstGeom prst="rect">
            <a:avLst/>
          </a:prstGeom>
          <a:noFill/>
          <a:ln/>
        </p:spPr>
        <p:txBody>
          <a:bodyPr wrap="square" lIns="0" tIns="0" rIns="0" bIns="0" rtlCol="0" anchor="ctr"/>
          <a:lstStyle/>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End-of-day stored in UTC reads as the next day at −4:00. A +5:30 demo hid it completely.</a:t>
            </a:r>
            <a:endParaRPr lang="en-US" sz="1150" dirty="0"/>
          </a:p>
        </p:txBody>
      </p:sp>
      <p:sp>
        <p:nvSpPr>
          <p:cNvPr id="10" name="Shape 8"/>
          <p:cNvSpPr/>
          <p:nvPr/>
        </p:nvSpPr>
        <p:spPr>
          <a:xfrm>
            <a:off x="640080" y="3429000"/>
            <a:ext cx="7315200" cy="1005840"/>
          </a:xfrm>
          <a:prstGeom prst="roundRect">
            <a:avLst>
              <a:gd name="adj" fmla="val 2727"/>
            </a:avLst>
          </a:prstGeom>
          <a:solidFill>
            <a:srgbClr val="FFFFFF"/>
          </a:solidFill>
          <a:ln w="12700">
            <a:solidFill>
              <a:srgbClr val="D6D9E3"/>
            </a:solidFill>
            <a:prstDash val="solid"/>
          </a:ln>
        </p:spPr>
      </p:sp>
      <p:sp>
        <p:nvSpPr>
          <p:cNvPr id="11" name="Shape 9"/>
          <p:cNvSpPr/>
          <p:nvPr/>
        </p:nvSpPr>
        <p:spPr>
          <a:xfrm>
            <a:off x="914400" y="3730752"/>
            <a:ext cx="365760" cy="365760"/>
          </a:xfrm>
          <a:prstGeom prst="ellipse">
            <a:avLst/>
          </a:prstGeom>
          <a:solidFill>
            <a:srgbClr val="B3341F"/>
          </a:solidFill>
          <a:ln/>
        </p:spPr>
      </p:sp>
      <p:sp>
        <p:nvSpPr>
          <p:cNvPr id="12" name="Text 10"/>
          <p:cNvSpPr/>
          <p:nvPr/>
        </p:nvSpPr>
        <p:spPr>
          <a:xfrm>
            <a:off x="914400" y="373075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2</a:t>
            </a:r>
            <a:endParaRPr lang="en-US" sz="1300" dirty="0"/>
          </a:p>
        </p:txBody>
      </p:sp>
      <p:sp>
        <p:nvSpPr>
          <p:cNvPr id="13" name="Text 11"/>
          <p:cNvSpPr/>
          <p:nvPr/>
        </p:nvSpPr>
        <p:spPr>
          <a:xfrm>
            <a:off x="1463040" y="3566160"/>
            <a:ext cx="6263640" cy="274320"/>
          </a:xfrm>
          <a:prstGeom prst="rect">
            <a:avLst/>
          </a:prstGeom>
          <a:noFill/>
          <a:ln/>
        </p:spPr>
        <p:txBody>
          <a:bodyPr wrap="square" lIns="0" tIns="0" rIns="0" bIns="0" rtlCol="0" anchor="ctr"/>
          <a:lstStyle/>
          <a:p>
            <a:pPr indent="0" marL="0">
              <a:buNone/>
            </a:pPr>
            <a:r>
              <a:rPr lang="en-US" sz="1550" b="1" dirty="0">
                <a:solidFill>
                  <a:srgbClr val="16171D"/>
                </a:solidFill>
                <a:latin typeface="Calibri" pitchFamily="34" charset="0"/>
                <a:ea typeface="Calibri" pitchFamily="34" charset="-122"/>
                <a:cs typeface="Calibri" pitchFamily="34" charset="-120"/>
              </a:rPr>
              <a:t>A page that rendered fine, with a piece missing</a:t>
            </a:r>
            <a:endParaRPr lang="en-US" sz="1550" dirty="0"/>
          </a:p>
        </p:txBody>
      </p:sp>
      <p:sp>
        <p:nvSpPr>
          <p:cNvPr id="14" name="Text 12"/>
          <p:cNvSpPr/>
          <p:nvPr/>
        </p:nvSpPr>
        <p:spPr>
          <a:xfrm>
            <a:off x="1463040" y="3886200"/>
            <a:ext cx="6309360" cy="475488"/>
          </a:xfrm>
          <a:prstGeom prst="rect">
            <a:avLst/>
          </a:prstGeom>
          <a:noFill/>
          <a:ln/>
        </p:spPr>
        <p:txBody>
          <a:bodyPr wrap="square" lIns="0" tIns="0" rIns="0" bIns="0" rtlCol="0" anchor="ctr"/>
          <a:lstStyle/>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Row ids assumed to be per-project were global, so replaying the second contract silently dropped every link between a chase and its promise.</a:t>
            </a:r>
            <a:endParaRPr lang="en-US" sz="1150" dirty="0"/>
          </a:p>
        </p:txBody>
      </p:sp>
      <p:sp>
        <p:nvSpPr>
          <p:cNvPr id="15" name="Shape 13"/>
          <p:cNvSpPr/>
          <p:nvPr/>
        </p:nvSpPr>
        <p:spPr>
          <a:xfrm>
            <a:off x="640080" y="4617720"/>
            <a:ext cx="7315200" cy="1005840"/>
          </a:xfrm>
          <a:prstGeom prst="roundRect">
            <a:avLst>
              <a:gd name="adj" fmla="val 2727"/>
            </a:avLst>
          </a:prstGeom>
          <a:solidFill>
            <a:srgbClr val="FFFFFF"/>
          </a:solidFill>
          <a:ln w="12700">
            <a:solidFill>
              <a:srgbClr val="D6D9E3"/>
            </a:solidFill>
            <a:prstDash val="solid"/>
          </a:ln>
        </p:spPr>
      </p:sp>
      <p:sp>
        <p:nvSpPr>
          <p:cNvPr id="16" name="Shape 14"/>
          <p:cNvSpPr/>
          <p:nvPr/>
        </p:nvSpPr>
        <p:spPr>
          <a:xfrm>
            <a:off x="914400" y="4919472"/>
            <a:ext cx="365760" cy="365760"/>
          </a:xfrm>
          <a:prstGeom prst="ellipse">
            <a:avLst/>
          </a:prstGeom>
          <a:solidFill>
            <a:srgbClr val="4B3F9E"/>
          </a:solidFill>
          <a:ln/>
        </p:spPr>
      </p:sp>
      <p:sp>
        <p:nvSpPr>
          <p:cNvPr id="17" name="Text 15"/>
          <p:cNvSpPr/>
          <p:nvPr/>
        </p:nvSpPr>
        <p:spPr>
          <a:xfrm>
            <a:off x="914400" y="49194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3</a:t>
            </a:r>
            <a:endParaRPr lang="en-US" sz="1300" dirty="0"/>
          </a:p>
        </p:txBody>
      </p:sp>
      <p:sp>
        <p:nvSpPr>
          <p:cNvPr id="18" name="Text 16"/>
          <p:cNvSpPr/>
          <p:nvPr/>
        </p:nvSpPr>
        <p:spPr>
          <a:xfrm>
            <a:off x="1463040" y="4754880"/>
            <a:ext cx="6263640" cy="274320"/>
          </a:xfrm>
          <a:prstGeom prst="rect">
            <a:avLst/>
          </a:prstGeom>
          <a:noFill/>
          <a:ln/>
        </p:spPr>
        <p:txBody>
          <a:bodyPr wrap="square" lIns="0" tIns="0" rIns="0" bIns="0" rtlCol="0" anchor="ctr"/>
          <a:lstStyle/>
          <a:p>
            <a:pPr indent="0" marL="0">
              <a:buNone/>
            </a:pPr>
            <a:r>
              <a:rPr lang="en-US" sz="1550" b="1" dirty="0">
                <a:solidFill>
                  <a:srgbClr val="16171D"/>
                </a:solidFill>
                <a:latin typeface="Calibri" pitchFamily="34" charset="0"/>
                <a:ea typeface="Calibri" pitchFamily="34" charset="-122"/>
                <a:cs typeface="Calibri" pitchFamily="34" charset="-120"/>
              </a:rPr>
              <a:t>A claim that was true once, not always</a:t>
            </a:r>
            <a:endParaRPr lang="en-US" sz="1550" dirty="0"/>
          </a:p>
        </p:txBody>
      </p:sp>
      <p:sp>
        <p:nvSpPr>
          <p:cNvPr id="19" name="Text 17"/>
          <p:cNvSpPr/>
          <p:nvPr/>
        </p:nvSpPr>
        <p:spPr>
          <a:xfrm>
            <a:off x="1463040" y="5074920"/>
            <a:ext cx="6309360" cy="475488"/>
          </a:xfrm>
          <a:prstGeom prst="rect">
            <a:avLst/>
          </a:prstGeom>
          <a:noFill/>
          <a:ln/>
        </p:spPr>
        <p:txBody>
          <a:bodyPr wrap="square" lIns="0" tIns="0" rIns="0" bIns="0" rtlCol="0" anchor="ctr"/>
          <a:lstStyle/>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We said the confidence band held. Re-running gave a different answer — a catch-all clause let the model be certain about anything.</a:t>
            </a:r>
            <a:endParaRPr lang="en-US" sz="1150" dirty="0"/>
          </a:p>
        </p:txBody>
      </p:sp>
      <p:sp>
        <p:nvSpPr>
          <p:cNvPr id="20" name="Shape 18"/>
          <p:cNvSpPr/>
          <p:nvPr/>
        </p:nvSpPr>
        <p:spPr>
          <a:xfrm>
            <a:off x="8275320" y="2240280"/>
            <a:ext cx="3246120" cy="3566160"/>
          </a:xfrm>
          <a:prstGeom prst="roundRect">
            <a:avLst>
              <a:gd name="adj" fmla="val 845"/>
            </a:avLst>
          </a:prstGeom>
          <a:solidFill>
            <a:srgbClr val="FFFFFF"/>
          </a:solidFill>
          <a:ln w="12700">
            <a:solidFill>
              <a:srgbClr val="D6D9E3"/>
            </a:solidFill>
            <a:prstDash val="solid"/>
          </a:ln>
        </p:spPr>
      </p:sp>
      <p:sp>
        <p:nvSpPr>
          <p:cNvPr id="21" name="Text 19"/>
          <p:cNvSpPr/>
          <p:nvPr/>
        </p:nvSpPr>
        <p:spPr>
          <a:xfrm>
            <a:off x="8549640" y="2450592"/>
            <a:ext cx="2743200" cy="731520"/>
          </a:xfrm>
          <a:prstGeom prst="rect">
            <a:avLst/>
          </a:prstGeom>
          <a:noFill/>
          <a:ln/>
        </p:spPr>
        <p:txBody>
          <a:bodyPr wrap="square" lIns="0" tIns="0" rIns="0" bIns="0" rtlCol="0" anchor="ctr"/>
          <a:lstStyle/>
          <a:p>
            <a:pPr indent="0" marL="0">
              <a:buNone/>
            </a:pPr>
            <a:r>
              <a:rPr lang="en-US" sz="3800" b="1" dirty="0">
                <a:solidFill>
                  <a:srgbClr val="4B3F9E"/>
                </a:solidFill>
                <a:latin typeface="Calibri" pitchFamily="34" charset="0"/>
                <a:ea typeface="Calibri" pitchFamily="34" charset="-122"/>
                <a:cs typeface="Calibri" pitchFamily="34" charset="-120"/>
              </a:rPr>
              <a:t>28 / 39</a:t>
            </a:r>
            <a:endParaRPr lang="en-US" sz="3800" dirty="0"/>
          </a:p>
        </p:txBody>
      </p:sp>
      <p:sp>
        <p:nvSpPr>
          <p:cNvPr id="22" name="Text 20"/>
          <p:cNvSpPr/>
          <p:nvPr/>
        </p:nvSpPr>
        <p:spPr>
          <a:xfrm>
            <a:off x="8549640" y="3154680"/>
            <a:ext cx="2743200" cy="274320"/>
          </a:xfrm>
          <a:prstGeom prst="rect">
            <a:avLst/>
          </a:prstGeom>
          <a:noFill/>
          <a:ln/>
        </p:spPr>
        <p:txBody>
          <a:bodyPr wrap="square" lIns="0" tIns="0" rIns="0" bIns="0" rtlCol="0" anchor="ctr"/>
          <a:lstStyle/>
          <a:p>
            <a:pPr indent="0" marL="0">
              <a:buNone/>
            </a:pPr>
            <a:r>
              <a:rPr lang="en-US" sz="1100" spc="100" kern="0" dirty="0">
                <a:solidFill>
                  <a:srgbClr val="5B6072"/>
                </a:solidFill>
                <a:latin typeface="Courier New" pitchFamily="34" charset="0"/>
                <a:ea typeface="Courier New" pitchFamily="34" charset="-122"/>
                <a:cs typeface="Courier New" pitchFamily="34" charset="-120"/>
              </a:rPr>
              <a:t>exact, 37 defensible</a:t>
            </a:r>
            <a:endParaRPr lang="en-US" sz="1100" dirty="0"/>
          </a:p>
        </p:txBody>
      </p:sp>
      <p:sp>
        <p:nvSpPr>
          <p:cNvPr id="23" name="Text 21"/>
          <p:cNvSpPr/>
          <p:nvPr/>
        </p:nvSpPr>
        <p:spPr>
          <a:xfrm>
            <a:off x="8549640" y="3657600"/>
            <a:ext cx="2788920" cy="2011680"/>
          </a:xfrm>
          <a:prstGeom prst="rect">
            <a:avLst/>
          </a:prstGeom>
          <a:noFill/>
          <a:ln/>
        </p:spPr>
        <p:txBody>
          <a:bodyPr wrap="square" lIns="0" tIns="0" rIns="0" bIns="0" rtlCol="0" anchor="ctr"/>
          <a:lstStyle/>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Scored against messages labelled from the contract, not from what the system outputs. Every out-of-scope request found, none invented.</a:t>
            </a:r>
            <a:endParaRPr lang="en-US" sz="1150" dirty="0"/>
          </a:p>
          <a:p>
            <a:pPr indent="0" marL="0">
              <a:lnSpc>
                <a:spcPts val="1500"/>
              </a:lnSpc>
              <a:buNone/>
            </a:pPr>
            <a:endParaRPr lang="en-US" sz="1150" dirty="0"/>
          </a:p>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The harness caught a bug 93 unit tests missed — a citation from the wrong client's contract.</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E2569"/>
        </a:solidFill>
      </p:bgPr>
    </p:bg>
    <p:spTree>
      <p:nvGrpSpPr>
        <p:cNvPr id="1" name=""/>
        <p:cNvGrpSpPr/>
        <p:nvPr/>
      </p:nvGrpSpPr>
      <p:grpSpPr>
        <a:xfrm>
          <a:off x="0" y="0"/>
          <a:ext cx="0" cy="0"/>
          <a:chOff x="0" y="0"/>
          <a:chExt cx="0" cy="0"/>
        </a:xfrm>
      </p:grpSpPr>
      <p:sp>
        <p:nvSpPr>
          <p:cNvPr id="2" name="Text 0"/>
          <p:cNvSpPr/>
          <p:nvPr/>
        </p:nvSpPr>
        <p:spPr>
          <a:xfrm>
            <a:off x="822960" y="640080"/>
            <a:ext cx="7315200" cy="274320"/>
          </a:xfrm>
          <a:prstGeom prst="rect">
            <a:avLst/>
          </a:prstGeom>
          <a:noFill/>
          <a:ln/>
        </p:spPr>
        <p:txBody>
          <a:bodyPr wrap="square" lIns="0" tIns="0" rIns="0" bIns="0" rtlCol="0" anchor="ctr"/>
          <a:lstStyle/>
          <a:p>
            <a:pPr indent="0" marL="0">
              <a:buNone/>
            </a:pPr>
            <a:r>
              <a:rPr lang="en-US" sz="1100" spc="150" kern="0" dirty="0">
                <a:solidFill>
                  <a:srgbClr val="7E76B8"/>
                </a:solidFill>
                <a:latin typeface="Courier New" pitchFamily="34" charset="0"/>
                <a:ea typeface="Courier New" pitchFamily="34" charset="-122"/>
                <a:cs typeface="Courier New" pitchFamily="34" charset="-120"/>
              </a:rPr>
              <a:t>WHO PAYS, AND WHY</a:t>
            </a:r>
            <a:endParaRPr lang="en-US" sz="1100" dirty="0"/>
          </a:p>
        </p:txBody>
      </p:sp>
      <p:sp>
        <p:nvSpPr>
          <p:cNvPr id="3" name="Text 1"/>
          <p:cNvSpPr/>
          <p:nvPr/>
        </p:nvSpPr>
        <p:spPr>
          <a:xfrm>
            <a:off x="822960" y="1051560"/>
            <a:ext cx="1051560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One recovered change order pays for a year</a:t>
            </a:r>
            <a:endParaRPr lang="en-US" sz="3600" dirty="0"/>
          </a:p>
        </p:txBody>
      </p:sp>
      <p:sp>
        <p:nvSpPr>
          <p:cNvPr id="4" name="Text 2"/>
          <p:cNvSpPr/>
          <p:nvPr/>
        </p:nvSpPr>
        <p:spPr>
          <a:xfrm>
            <a:off x="822960" y="2514600"/>
            <a:ext cx="3200400" cy="292608"/>
          </a:xfrm>
          <a:prstGeom prst="rect">
            <a:avLst/>
          </a:prstGeom>
          <a:noFill/>
          <a:ln/>
        </p:spPr>
        <p:txBody>
          <a:bodyPr wrap="square" lIns="0" tIns="0" rIns="0" bIns="0" rtlCol="0" anchor="ctr"/>
          <a:lstStyle/>
          <a:p>
            <a:pPr indent="0" marL="0">
              <a:buNone/>
            </a:pPr>
            <a:r>
              <a:rPr lang="en-US" sz="1200" b="1" spc="130" kern="0" dirty="0">
                <a:solidFill>
                  <a:srgbClr val="A9A2D8"/>
                </a:solidFill>
                <a:latin typeface="Courier New" pitchFamily="34" charset="0"/>
                <a:ea typeface="Courier New" pitchFamily="34" charset="-122"/>
                <a:cs typeface="Courier New" pitchFamily="34" charset="-120"/>
              </a:rPr>
              <a:t>Who</a:t>
            </a:r>
            <a:endParaRPr lang="en-US" sz="1200" dirty="0"/>
          </a:p>
        </p:txBody>
      </p:sp>
      <p:sp>
        <p:nvSpPr>
          <p:cNvPr id="5" name="Text 3"/>
          <p:cNvSpPr/>
          <p:nvPr/>
        </p:nvSpPr>
        <p:spPr>
          <a:xfrm>
            <a:off x="822960" y="2926080"/>
            <a:ext cx="3246120" cy="1737360"/>
          </a:xfrm>
          <a:prstGeom prst="rect">
            <a:avLst/>
          </a:prstGeom>
          <a:noFill/>
          <a:ln/>
        </p:spPr>
        <p:txBody>
          <a:bodyPr wrap="square" lIns="0" tIns="0" rIns="0" bIns="0" rtlCol="0" anchor="ctr"/>
          <a:lstStyle/>
          <a:p>
            <a:pPr indent="0" marL="0">
              <a:lnSpc>
                <a:spcPts val="1900"/>
              </a:lnSpc>
              <a:buNone/>
            </a:pPr>
            <a:r>
              <a:rPr lang="en-US" sz="1300" dirty="0">
                <a:solidFill>
                  <a:srgbClr val="E4E1F6"/>
                </a:solidFill>
                <a:latin typeface="Calibri" pitchFamily="34" charset="0"/>
                <a:ea typeface="Calibri" pitchFamily="34" charset="-122"/>
                <a:cs typeface="Calibri" pitchFamily="34" charset="-120"/>
              </a:rPr>
              <a:t>Freelance developers and consultants who bill by scope — people who lose money to unpaid extras, not to lack of leads.</a:t>
            </a:r>
            <a:endParaRPr lang="en-US" sz="1300" dirty="0"/>
          </a:p>
        </p:txBody>
      </p:sp>
      <p:sp>
        <p:nvSpPr>
          <p:cNvPr id="6" name="Text 4"/>
          <p:cNvSpPr/>
          <p:nvPr/>
        </p:nvSpPr>
        <p:spPr>
          <a:xfrm>
            <a:off x="4434840" y="2514600"/>
            <a:ext cx="3200400" cy="292608"/>
          </a:xfrm>
          <a:prstGeom prst="rect">
            <a:avLst/>
          </a:prstGeom>
          <a:noFill/>
          <a:ln/>
        </p:spPr>
        <p:txBody>
          <a:bodyPr wrap="square" lIns="0" tIns="0" rIns="0" bIns="0" rtlCol="0" anchor="ctr"/>
          <a:lstStyle/>
          <a:p>
            <a:pPr indent="0" marL="0">
              <a:buNone/>
            </a:pPr>
            <a:r>
              <a:rPr lang="en-US" sz="1200" b="1" spc="130" kern="0" dirty="0">
                <a:solidFill>
                  <a:srgbClr val="A9A2D8"/>
                </a:solidFill>
                <a:latin typeface="Courier New" pitchFamily="34" charset="0"/>
                <a:ea typeface="Courier New" pitchFamily="34" charset="-122"/>
                <a:cs typeface="Courier New" pitchFamily="34" charset="-120"/>
              </a:rPr>
              <a:t>Both sides</a:t>
            </a:r>
            <a:endParaRPr lang="en-US" sz="1200" dirty="0"/>
          </a:p>
        </p:txBody>
      </p:sp>
      <p:sp>
        <p:nvSpPr>
          <p:cNvPr id="7" name="Text 5"/>
          <p:cNvSpPr/>
          <p:nvPr/>
        </p:nvSpPr>
        <p:spPr>
          <a:xfrm>
            <a:off x="4434840" y="2926080"/>
            <a:ext cx="3246120" cy="1737360"/>
          </a:xfrm>
          <a:prstGeom prst="rect">
            <a:avLst/>
          </a:prstGeom>
          <a:noFill/>
          <a:ln/>
        </p:spPr>
        <p:txBody>
          <a:bodyPr wrap="square" lIns="0" tIns="0" rIns="0" bIns="0" rtlCol="0" anchor="ctr"/>
          <a:lstStyle/>
          <a:p>
            <a:pPr indent="0" marL="0">
              <a:lnSpc>
                <a:spcPts val="1900"/>
              </a:lnSpc>
              <a:buNone/>
            </a:pPr>
            <a:r>
              <a:rPr lang="en-US" sz="1300" dirty="0">
                <a:solidFill>
                  <a:srgbClr val="E4E1F6"/>
                </a:solidFill>
                <a:latin typeface="Calibri" pitchFamily="34" charset="0"/>
                <a:ea typeface="Calibri" pitchFamily="34" charset="-122"/>
                <a:cs typeface="Calibri" pitchFamily="34" charset="-120"/>
              </a:rPr>
              <a:t>The shop that hired them has the same problem inverted, and the same engine answers it. One contract, one thread, two readings of who is late. Growth without becoming a thinner product.</a:t>
            </a:r>
            <a:endParaRPr lang="en-US" sz="1300" dirty="0"/>
          </a:p>
        </p:txBody>
      </p:sp>
      <p:sp>
        <p:nvSpPr>
          <p:cNvPr id="8" name="Text 6"/>
          <p:cNvSpPr/>
          <p:nvPr/>
        </p:nvSpPr>
        <p:spPr>
          <a:xfrm>
            <a:off x="8046720" y="2514600"/>
            <a:ext cx="3200400" cy="292608"/>
          </a:xfrm>
          <a:prstGeom prst="rect">
            <a:avLst/>
          </a:prstGeom>
          <a:noFill/>
          <a:ln/>
        </p:spPr>
        <p:txBody>
          <a:bodyPr wrap="square" lIns="0" tIns="0" rIns="0" bIns="0" rtlCol="0" anchor="ctr"/>
          <a:lstStyle/>
          <a:p>
            <a:pPr indent="0" marL="0">
              <a:buNone/>
            </a:pPr>
            <a:r>
              <a:rPr lang="en-US" sz="1200" b="1" spc="130" kern="0" dirty="0">
                <a:solidFill>
                  <a:srgbClr val="A9A2D8"/>
                </a:solidFill>
                <a:latin typeface="Courier New" pitchFamily="34" charset="0"/>
                <a:ea typeface="Courier New" pitchFamily="34" charset="-122"/>
                <a:cs typeface="Courier New" pitchFamily="34" charset="-120"/>
              </a:rPr>
              <a:t>Built</a:t>
            </a:r>
            <a:endParaRPr lang="en-US" sz="1200" dirty="0"/>
          </a:p>
        </p:txBody>
      </p:sp>
      <p:sp>
        <p:nvSpPr>
          <p:cNvPr id="9" name="Text 7"/>
          <p:cNvSpPr/>
          <p:nvPr/>
        </p:nvSpPr>
        <p:spPr>
          <a:xfrm>
            <a:off x="8046720" y="2926080"/>
            <a:ext cx="3246120" cy="1737360"/>
          </a:xfrm>
          <a:prstGeom prst="rect">
            <a:avLst/>
          </a:prstGeom>
          <a:noFill/>
          <a:ln/>
        </p:spPr>
        <p:txBody>
          <a:bodyPr wrap="square" lIns="0" tIns="0" rIns="0" bIns="0" rtlCol="0" anchor="ctr"/>
          <a:lstStyle/>
          <a:p>
            <a:pPr indent="0" marL="0">
              <a:lnSpc>
                <a:spcPts val="1900"/>
              </a:lnSpc>
              <a:buNone/>
            </a:pPr>
            <a:r>
              <a:rPr lang="en-US" sz="1300" dirty="0">
                <a:solidFill>
                  <a:srgbClr val="E4E1F6"/>
                </a:solidFill>
                <a:latin typeface="Calibri" pitchFamily="34" charset="0"/>
                <a:ea typeface="Calibri" pitchFamily="34" charset="-122"/>
                <a:cs typeface="Calibri" pitchFamily="34" charset="-120"/>
              </a:rPr>
              <a:t>Contract ingestion, message classification, obligation ledger, drafting with safety rails, and the review surface — end to end, on two contracts, from either side.</a:t>
            </a:r>
            <a:endParaRPr lang="en-US" sz="1300" dirty="0"/>
          </a:p>
        </p:txBody>
      </p:sp>
      <p:sp>
        <p:nvSpPr>
          <p:cNvPr id="10" name="Text 8"/>
          <p:cNvSpPr/>
          <p:nvPr/>
        </p:nvSpPr>
        <p:spPr>
          <a:xfrm>
            <a:off x="822960" y="5212080"/>
            <a:ext cx="10515600" cy="548640"/>
          </a:xfrm>
          <a:prstGeom prst="rect">
            <a:avLst/>
          </a:prstGeom>
          <a:noFill/>
          <a:ln/>
        </p:spPr>
        <p:txBody>
          <a:bodyPr wrap="square" lIns="0" tIns="0" rIns="0" bIns="0" rtlCol="0" anchor="ctr"/>
          <a:lstStyle/>
          <a:p>
            <a:pPr indent="0" marL="0">
              <a:buNone/>
            </a:pPr>
            <a:r>
              <a:rPr lang="en-US" sz="2500" i="1" dirty="0">
                <a:solidFill>
                  <a:srgbClr val="CFC9F2"/>
                </a:solidFill>
                <a:latin typeface="Cambria" pitchFamily="34" charset="0"/>
                <a:ea typeface="Cambria" pitchFamily="34" charset="-122"/>
                <a:cs typeface="Cambria" pitchFamily="34" charset="-120"/>
              </a:rPr>
              <a:t>Gmail has your inbox. It does not have your contract.</a:t>
            </a:r>
            <a:endParaRPr lang="en-US" sz="2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Chief of Staff</dc:title>
  <dc:subject>PptxGenJS Presentation</dc:subject>
  <dc:creator>Chief of Staff</dc:creator>
  <cp:lastModifiedBy>Chief of Staff</cp:lastModifiedBy>
  <cp:revision>1</cp:revision>
  <dcterms:created xsi:type="dcterms:W3CDTF">2026-08-27T10:57:50Z</dcterms:created>
  <dcterms:modified xsi:type="dcterms:W3CDTF">2026-08-27T10:57:50Z</dcterms:modified>
</cp:coreProperties>
</file>