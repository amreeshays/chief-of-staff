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 on the line. No logo, no preamble. It is an accurate technical claim, not a slogan: a mail-only tool cannot make this judgement because it has never read the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problems are invisible to an inbox because the inbox has no idea what was agreed.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defensibility slide. A mail-only competitor cannot produce the right-hand side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capabilities, one dependency: all of it rests on having read the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here was scripted for the demo. The link between the two messages is a field the classifier fills in: the 19 August message is conversationally noise and is also chasing a specific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amendment records the condition they attached — start only after the Collections page. Agreeing on terms is not the same as agreeing, and dropping the terms overstates what was settled.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Undo is free precisely because nothing was sent — at worst a draft leaves the drafts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domains, two currencies, two timezones, one prompt. The 10/10 is five reruns per message after the catch-all fix — the earlier version of this slide claimed stability from one observation, which is exactly the mistake this project keeps catching.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bug worth dwelling on is the second: it rendered a valid-looking page with a piece missing. Nothing signals check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same line the deck opened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5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Chief of Staff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i="1" dirty="0">
                <a:solidFill>
                  <a:srgbClr val="CF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Gmail has your inbox.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i="1" dirty="0">
                <a:solidFill>
                  <a:srgbClr val="CF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have your contract.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reads a freelancer's client email against the agreement they signed.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7E7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BUILDERS 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B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FREELANCER'S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go wrong, neither in the inbox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766560" cy="1463040"/>
          </a:xfrm>
          <a:prstGeom prst="roundRect">
            <a:avLst>
              <a:gd name="adj" fmla="val 1875"/>
            </a:avLst>
          </a:prstGeom>
          <a:solidFill>
            <a:srgbClr val="FBFBFD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04288"/>
            <a:ext cx="384048" cy="384048"/>
          </a:xfrm>
          <a:prstGeom prst="ellipse">
            <a:avLst/>
          </a:prstGeom>
          <a:solidFill>
            <a:srgbClr val="B3341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81328" y="224942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arrives politely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81328" y="263347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also just add…” Nobody says “I'd like to change the contract.” It reads as a favour, so it gets done for free.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6766560" cy="1463040"/>
          </a:xfrm>
          <a:prstGeom prst="roundRect">
            <a:avLst>
              <a:gd name="adj" fmla="val 1875"/>
            </a:avLst>
          </a:prstGeom>
          <a:solidFill>
            <a:srgbClr val="FBFBFD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87368"/>
            <a:ext cx="384048" cy="384048"/>
          </a:xfrm>
          <a:prstGeom prst="ellipse">
            <a:avLst/>
          </a:prstGeom>
          <a:solidFill>
            <a:srgbClr val="4B3F9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81328" y="403250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get lost in threads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481328" y="441655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get that to you by Friday” is buried under forty messages. The client remembers. You don't.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818120" y="2011680"/>
            <a:ext cx="3703320" cy="3246120"/>
          </a:xfrm>
          <a:prstGeom prst="roundRect">
            <a:avLst>
              <a:gd name="adj" fmla="val 845"/>
            </a:avLst>
          </a:prstGeom>
          <a:solidFill>
            <a:srgbClr val="2E2569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A9A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92440" y="26974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Unpaid work,</a:t>
            </a:r>
            <a:endParaRPr lang="en-US" sz="24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client who</a:t>
            </a:r>
            <a:endParaRPr lang="en-US" sz="24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stops trusting</a:t>
            </a:r>
            <a:endParaRPr lang="en-US" sz="24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dates.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9244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freelancer eats both.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B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OBVIOUS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hasn't Gmail already done this?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triage tools read mail. This reads the contract first.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2926080"/>
          </a:xfrm>
          <a:prstGeom prst="roundRect">
            <a:avLst>
              <a:gd name="adj" fmla="val 938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42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B6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CLIENT, 10 AUGUST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“Customers keep calling to ask if they can just buy the rings directly from the website. Nothing fancy, just a buy button.”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224528"/>
            <a:ext cx="1600200" cy="310896"/>
          </a:xfrm>
          <a:prstGeom prst="roundRect">
            <a:avLst>
              <a:gd name="adj" fmla="val 8824"/>
            </a:avLst>
          </a:prstGeom>
          <a:solidFill>
            <a:srgbClr val="FBEDEA"/>
          </a:solidFill>
          <a:ln w="12700">
            <a:solidFill>
              <a:srgbClr val="B334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245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3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OF SCOPE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FBFBFD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432304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4B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AGREEMENT THEY BOTH SIGNED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19672" y="2706624"/>
            <a:ext cx="47457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“Online payments, shopping cart, and any e-commerce functionality are excluded from this agreement.”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63640" y="448056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quotes the clause into the reply, word for word, so the client can check it.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B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it. Judge the mail. Track what changed.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60320" cy="3154680"/>
          </a:xfrm>
          <a:prstGeom prst="roundRect">
            <a:avLst>
              <a:gd name="adj" fmla="val 1071"/>
            </a:avLst>
          </a:prstGeom>
          <a:solidFill>
            <a:srgbClr val="FBFBFD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340864"/>
            <a:ext cx="384048" cy="384048"/>
          </a:xfrm>
          <a:prstGeom prst="ellipse">
            <a:avLst/>
          </a:prstGeom>
          <a:solidFill>
            <a:srgbClr val="4B3F9E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8712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agreement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584448"/>
            <a:ext cx="2121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signed contract into scope items, each carrying a span copied word for word. A quote that isn't in the document raises — never quietly dropped.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6432" y="2057400"/>
            <a:ext cx="2560320" cy="3154680"/>
          </a:xfrm>
          <a:prstGeom prst="roundRect">
            <a:avLst>
              <a:gd name="adj" fmla="val 1071"/>
            </a:avLst>
          </a:prstGeom>
          <a:solidFill>
            <a:srgbClr val="FBFBFD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94176" y="2340864"/>
            <a:ext cx="384048" cy="384048"/>
          </a:xfrm>
          <a:prstGeom prst="ellipse">
            <a:avLst/>
          </a:prstGeom>
          <a:solidFill>
            <a:srgbClr val="4B3F9E"/>
          </a:solidFill>
          <a:ln/>
        </p:spPr>
      </p:sp>
      <p:sp>
        <p:nvSpPr>
          <p:cNvPr id="11" name="Text 9"/>
          <p:cNvSpPr/>
          <p:nvPr/>
        </p:nvSpPr>
        <p:spPr>
          <a:xfrm>
            <a:off x="3694176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94176" y="28712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every message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94176" y="3584448"/>
            <a:ext cx="2121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scope, out of scope, a new commitment, or noise — with the clause that decides it and how sure it 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2057400"/>
            <a:ext cx="2560320" cy="3154680"/>
          </a:xfrm>
          <a:prstGeom prst="roundRect">
            <a:avLst>
              <a:gd name="adj" fmla="val 1071"/>
            </a:avLst>
          </a:prstGeom>
          <a:solidFill>
            <a:srgbClr val="FBFBFD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0528" y="2340864"/>
            <a:ext cx="384048" cy="384048"/>
          </a:xfrm>
          <a:prstGeom prst="ellipse">
            <a:avLst/>
          </a:prstGeom>
          <a:solidFill>
            <a:srgbClr val="4B3F9E"/>
          </a:solidFill>
          <a:ln/>
        </p:spPr>
      </p:sp>
      <p:sp>
        <p:nvSpPr>
          <p:cNvPr id="16" name="Text 14"/>
          <p:cNvSpPr/>
          <p:nvPr/>
        </p:nvSpPr>
        <p:spPr>
          <a:xfrm>
            <a:off x="6510528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0528" y="28712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ledger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0528" y="3584448"/>
            <a:ext cx="2121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promise either side made, the words that set its deadline, and whether it was kept.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89136" y="2057400"/>
            <a:ext cx="2560320" cy="3154680"/>
          </a:xfrm>
          <a:prstGeom prst="roundRect">
            <a:avLst>
              <a:gd name="adj" fmla="val 1071"/>
            </a:avLst>
          </a:prstGeom>
          <a:solidFill>
            <a:srgbClr val="FBFBFD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340864"/>
            <a:ext cx="384048" cy="384048"/>
          </a:xfrm>
          <a:prstGeom prst="ellipse">
            <a:avLst/>
          </a:prstGeom>
          <a:solidFill>
            <a:srgbClr val="4B3F9E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0" y="287121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what changed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0" y="3584448"/>
            <a:ext cx="2121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client agrees in writing to work the contract never covered, that agreement becomes scope — cited to their own words.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acts, but only into drafts — and never sends.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B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MOMENT THAT SELLS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flagged the slip before the client did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128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4B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· 12 AUGUST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get the Collections page to you by Friday.”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5257800" cy="16916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330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B33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· 19 AUGUST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46227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luck with the Collections page? You'd mentioned Friday…”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257800" cy="3611880"/>
          </a:xfrm>
          <a:prstGeom prst="roundRect">
            <a:avLst>
              <a:gd name="adj" fmla="val 759"/>
            </a:avLst>
          </a:prstGeom>
          <a:solidFill>
            <a:srgbClr val="2E2569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286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A9A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LEDGER, ON 14 AUGUST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F9C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OVERDUE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312724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page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14 August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delivered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37960" y="4709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days before the client asked.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“Soon” is recorded too — no date, marked vague, quoting the word you actually used. That is the promise that goes missing.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B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AFTER THEY SAY YES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contract does not stay signed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changes by email. A tool that keeps citing the original document is wrong a week later.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68580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B33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AUG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23317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whole site in Hindi”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0" y="2706624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— the contract excludes translation.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68580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5844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2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AUG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35387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“we're happy to go ahead at INR 18,000”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3913632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changes here. Their words become a clause.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608576"/>
            <a:ext cx="68580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7914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2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AUG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474573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Hindi prices use Devanagari numerals?”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11680" y="5120640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— under the amendment, not the contract.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0" y="2194560"/>
            <a:ext cx="3657600" cy="3621024"/>
          </a:xfrm>
          <a:prstGeom prst="roundRect">
            <a:avLst>
              <a:gd name="adj" fmla="val 758"/>
            </a:avLst>
          </a:prstGeom>
          <a:solidFill>
            <a:srgbClr val="2E2569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468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30" kern="0" dirty="0">
                <a:solidFill>
                  <a:srgbClr val="A9A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MAY WIDEN SCOPE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38160" y="28529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side that pays.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138160" y="3858768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C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contractor writing “great, I'll start Monday” is enthusiasm, not agreement. That rule is in the code, because a model asked whether somebody agreed will find agreement in warmth.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B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refuses to do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rails, enforced in code and covered by tests — not asked for in a prompt.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6949440" cy="84124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32304"/>
            <a:ext cx="365760" cy="365760"/>
          </a:xfrm>
          <a:prstGeom prst="ellipse">
            <a:avLst/>
          </a:prstGeom>
          <a:solidFill>
            <a:srgbClr val="B3341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2951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sends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63040" y="258775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are created and stop there. The Gmail scope would permit sending; the codebase has no send path, and a test asserts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6949440" cy="84124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392424"/>
            <a:ext cx="365760" cy="365760"/>
          </a:xfrm>
          <a:prstGeom prst="ellipse">
            <a:avLst/>
          </a:prstGeom>
          <a:solidFill>
            <a:srgbClr val="B3341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2552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money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463040" y="354787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 or percentage may appear in a reply unless it is already in the contract.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6949440" cy="84124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352544"/>
            <a:ext cx="365760" cy="365760"/>
          </a:xfrm>
          <a:prstGeom prst="ellipse">
            <a:avLst/>
          </a:prstGeom>
          <a:solidFill>
            <a:srgbClr val="B3341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42153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picks your date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63040" y="450799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late-work update leaves [NEW DATE] for you. Committing you to a date you never agreed is not the agent's to 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6949440" cy="84124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312664"/>
            <a:ext cx="365760" cy="365760"/>
          </a:xfrm>
          <a:prstGeom prst="ellipse">
            <a:avLst/>
          </a:prstGeom>
          <a:solidFill>
            <a:srgbClr val="B3341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12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51755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guesses a deadline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463040" y="546811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copies “by Friday” verbatim; code turns that into a date in your timezone. A model asked for a date invents a plausible one.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0" y="2194560"/>
            <a:ext cx="3566160" cy="3520440"/>
          </a:xfrm>
          <a:prstGeom prst="roundRect">
            <a:avLst>
              <a:gd name="adj" fmla="val 779"/>
            </a:avLst>
          </a:prstGeom>
          <a:solidFill>
            <a:srgbClr val="FAF2D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2468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8A65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WHEN IT ISN'T SURE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2926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“Could the logo animate a little?”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229600" y="39776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that it might sit inside an existing deliverable. The agent writes no draft. It asks you.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B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YOU OVERFIT TO YOUR OWN DEMO?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contracts. No prompt changes.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was written to break the first one's assumptions: prose instead of lists, exclusions buried mid-paragraph under no heading, dollars instead of rupees, a timezone west of UTC.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95728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40280"/>
                <a:gridCol w="2240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110" kern="0" dirty="0">
                          <a:solidFill>
                            <a:srgbClr val="4B3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110" kern="0" dirty="0">
                          <a:solidFill>
                            <a:srgbClr val="4B3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sections, explicit list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prose, buried in text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/ timezone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INR fixed · +5:30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USD hourly · −4:00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items extracted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Unverifiable quotes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Exclusions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of 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of 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Verdicts rejected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of 20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of 16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“Unsure” verdicts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7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Drafts refused by rails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6B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41080" y="2395728"/>
            <a:ext cx="2880360" cy="2798064"/>
          </a:xfrm>
          <a:prstGeom prst="roundRect">
            <a:avLst>
              <a:gd name="adj" fmla="val 980"/>
            </a:avLst>
          </a:prstGeom>
          <a:solidFill>
            <a:srgbClr val="2E2569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87968" y="263347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887968" y="3346704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C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borderline message in each thread returns “unsure”. Five consecutive runs each, temperature pinned.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C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first claimed this from one run. Re-running proved it wasn't true yet.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4B3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KNOW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617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 it, and measuring keeps finding bugs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on the previous slide comes from a harness, not from watching one demo go well.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7315200" cy="10058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42032"/>
            <a:ext cx="365760" cy="365760"/>
          </a:xfrm>
          <a:prstGeom prst="ellipse">
            <a:avLst/>
          </a:prstGeom>
          <a:solidFill>
            <a:srgbClr val="4B3F9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off by one, west of UTC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stored in UTC reads as the next day at −4:00. A +5:30 demo hid it completely.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7315200" cy="10058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30752"/>
            <a:ext cx="365760" cy="365760"/>
          </a:xfrm>
          <a:prstGeom prst="ellipse">
            <a:avLst/>
          </a:prstGeom>
          <a:solidFill>
            <a:srgbClr val="B3341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5661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that rendered fine, with a piece missing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463040" y="388620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ids assumed to be per-project were global, so replaying the second contract silently dropped every link between a chase and its promise.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7315200" cy="10058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919472"/>
            <a:ext cx="365760" cy="365760"/>
          </a:xfrm>
          <a:prstGeom prst="ellipse">
            <a:avLst/>
          </a:prstGeom>
          <a:solidFill>
            <a:srgbClr val="4B3F9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919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47548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that was true once, not always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63040" y="50749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said the confidence band held. Re-running gave a different answer — a catch-all clause let the model be certain about anything.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75320" y="2240280"/>
            <a:ext cx="3246120" cy="3566160"/>
          </a:xfrm>
          <a:prstGeom prst="roundRect">
            <a:avLst>
              <a:gd name="adj" fmla="val 845"/>
            </a:avLst>
          </a:prstGeom>
          <a:solidFill>
            <a:srgbClr val="FFFFFF"/>
          </a:solidFill>
          <a:ln w="12700">
            <a:solidFill>
              <a:srgbClr val="D6D9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4505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39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85496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B6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exact, 37 defensible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49640" y="365760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messages labelled from the contract, not from what the system outputs. Every out-of-scope request found, none invented.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caught a bug 93 unit tests missed — a citation from the wrong client's contract.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25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E7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PAYS, AND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recovered change order pays for a year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A9A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developers and consultants who bill by scope — people who lose money to unpaid extras, not to lack of leads.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34840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A9A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sides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840" y="292608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that hired them has the same problem inverted, and the same engine answers it. One contract, one thread, two readings of who is late. Growth without becoming a thinner product.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A9A2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292608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ingestion, message classification, obligation ledger, drafting with safety rails, and the review surface — end to end, on two contracts, from either side.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CF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Gmail has your inbox. It does not have your contract.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Chief of Staff</dc:title>
  <dc:subject>PptxGenJS Presentation</dc:subject>
  <dc:creator>Chief of Staff</dc:creator>
  <cp:lastModifiedBy>Chief of Staff</cp:lastModifiedBy>
  <cp:revision>1</cp:revision>
  <dcterms:created xsi:type="dcterms:W3CDTF">2026-08-25T16:07:09Z</dcterms:created>
  <dcterms:modified xsi:type="dcterms:W3CDTF">2026-08-25T16:07:09Z</dcterms:modified>
</cp:coreProperties>
</file>