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cold on the line. No logo, no preamble. It is an accurate technical claim, not a slogan: a mail-only tool cannot make this judgement because it has never read the contract.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problems are invisible to an inbox because the inbox has no idea what was agreed.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defensibility slide. A mail-only competitor cannot produce the right-hand side at 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capabilities, one dependency: all of it rests on having read the contract.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Nothing here was scripted for the demo. The link between the two messages is a field the classifier fills in: the 19 August message is conversationally noise and is also chasing a specific commitment.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Python, SQLite, FastAPI. Provider behind one interface: Gemini shipped, Ollama for local iteration, Anthropic supported.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Undo is free precisely because nothing was sent — at worst a draft leaves the drafts folder.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domains, two currencies, two timezones, one prompt. The 10/10 is five reruns per message after the catch-all fix — the earlier version of this slide claimed stability from one observation, which is exactly the mistake this project keeps catching.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bug worth dwelling on is the second: it rendered a valid-looking page with a piece missing. Nothing signals check 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same line the deck opened with.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256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Chief of Staff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822960" y="288036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000" i="1" dirty="0">
                <a:solidFill>
                  <a:srgbClr val="CFC9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Gmail has your inbox.</a:t>
            </a:r>
            <a:endParaRPr lang="en-US" sz="30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000" i="1" dirty="0">
                <a:solidFill>
                  <a:srgbClr val="CFC9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does not have your contract.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45262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A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that reads a freelancer's client email against the agreement they signed.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5943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7E76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BUILDERS HACKATHON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B3F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FREELANCER'S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617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things go wrong, and neither lives in the inbox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6766560" cy="1463040"/>
          </a:xfrm>
          <a:prstGeom prst="roundRect">
            <a:avLst>
              <a:gd name="adj" fmla="val 1875"/>
            </a:avLst>
          </a:prstGeom>
          <a:solidFill>
            <a:srgbClr val="FBFBFD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167128"/>
            <a:ext cx="384048" cy="384048"/>
          </a:xfrm>
          <a:prstGeom prst="ellipse">
            <a:avLst/>
          </a:prstGeom>
          <a:solidFill>
            <a:srgbClr val="B3341F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67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81328" y="2112264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17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creep arrives politely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481328" y="2496312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“Can you also just add…” Nobody says “I'd like to change the contract.” It reads as a favour, so it gets done for free.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3657600"/>
            <a:ext cx="6766560" cy="1463040"/>
          </a:xfrm>
          <a:prstGeom prst="roundRect">
            <a:avLst>
              <a:gd name="adj" fmla="val 1875"/>
            </a:avLst>
          </a:prstGeom>
          <a:solidFill>
            <a:srgbClr val="FBFBFD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950208"/>
            <a:ext cx="384048" cy="384048"/>
          </a:xfrm>
          <a:prstGeom prst="ellipse">
            <a:avLst/>
          </a:prstGeom>
          <a:solidFill>
            <a:srgbClr val="4B3F9E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81328" y="3895344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17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Promises get lost in threads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1481328" y="4279392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“I'll get that to you by Friday” is buried under forty messages. The client remembers. You don't.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7818120" y="1874520"/>
            <a:ext cx="3703320" cy="3246120"/>
          </a:xfrm>
          <a:prstGeom prst="roundRect">
            <a:avLst>
              <a:gd name="adj" fmla="val 845"/>
            </a:avLst>
          </a:prstGeom>
          <a:solidFill>
            <a:srgbClr val="2E2569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92440" y="21488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A9A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cost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092440" y="2560320"/>
            <a:ext cx="3200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Unpaid work,</a:t>
            </a:r>
            <a:endParaRPr lang="en-US" sz="2400" dirty="0"/>
          </a:p>
          <a:p>
            <a:pPr indent="0" marL="0">
              <a:lnSpc>
                <a:spcPts val="33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a client who</a:t>
            </a:r>
            <a:endParaRPr lang="en-US" sz="2400" dirty="0"/>
          </a:p>
          <a:p>
            <a:pPr indent="0" marL="0">
              <a:lnSpc>
                <a:spcPts val="33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stops trusting</a:t>
            </a:r>
            <a:endParaRPr lang="en-US" sz="2400" dirty="0"/>
          </a:p>
          <a:p>
            <a:pPr indent="0" marL="0">
              <a:lnSpc>
                <a:spcPts val="33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dates.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092440" y="45262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9A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freelancer eats both.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B3F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OBVIOUS QUESTION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617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hasn't Gmail already done this?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triage tools read mail. This reads the contract first.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5257800" cy="2926080"/>
          </a:xfrm>
          <a:prstGeom prst="roundRect">
            <a:avLst>
              <a:gd name="adj" fmla="val 938"/>
            </a:avLst>
          </a:prstGeom>
          <a:solidFill>
            <a:srgbClr val="FFFFFF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542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20" kern="0" dirty="0">
                <a:solidFill>
                  <a:srgbClr val="5B60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CLIENT, 10 AUGUST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14400" y="2880360"/>
            <a:ext cx="4709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617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“Customers keep calling to ask if they can just buy the rings directly from the website. Nothing fancy, just a buy button.”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914400" y="4224528"/>
            <a:ext cx="1600200" cy="310896"/>
          </a:xfrm>
          <a:prstGeom prst="roundRect">
            <a:avLst>
              <a:gd name="adj" fmla="val 8824"/>
            </a:avLst>
          </a:prstGeom>
          <a:solidFill>
            <a:srgbClr val="FBEDEA"/>
          </a:solidFill>
          <a:ln w="12700">
            <a:solidFill>
              <a:srgbClr val="B3341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422452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334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 OF SCOPE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63640" y="2286000"/>
            <a:ext cx="5257800" cy="2011680"/>
          </a:xfrm>
          <a:prstGeom prst="roundRect">
            <a:avLst>
              <a:gd name="adj" fmla="val 1818"/>
            </a:avLst>
          </a:prstGeom>
          <a:solidFill>
            <a:srgbClr val="FBFBFD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19672" y="2432304"/>
            <a:ext cx="4745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20" kern="0" dirty="0">
                <a:solidFill>
                  <a:srgbClr val="4B3F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AGREEMENT THEY BOTH SIGNED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519672" y="2706624"/>
            <a:ext cx="4745736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i="1" dirty="0">
                <a:solidFill>
                  <a:srgbClr val="1617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“Online payments, shopping cart, and any e-commerce functionality are excluded from this agreement.”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263640" y="4480560"/>
            <a:ext cx="5257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quotes the clause into the reply, word for word, so the client can check it.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B3F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IT DOES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617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the contract. Judge the mail. Track the promises.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429000" cy="3200400"/>
          </a:xfrm>
          <a:prstGeom prst="roundRect">
            <a:avLst>
              <a:gd name="adj" fmla="val 857"/>
            </a:avLst>
          </a:prstGeom>
          <a:solidFill>
            <a:srgbClr val="FBFBFD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" y="2286000"/>
            <a:ext cx="384048" cy="384048"/>
          </a:xfrm>
          <a:prstGeom prst="ellipse">
            <a:avLst/>
          </a:prstGeom>
          <a:solidFill>
            <a:srgbClr val="4B3F9E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2286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32688" y="285292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617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the agreement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32688" y="3566160"/>
            <a:ext cx="2834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a signed contract into scope items, each carrying a span copied word for word. A quote that isn't in the document raises — it is never quietly dropped.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89120" y="1965960"/>
            <a:ext cx="3429000" cy="3200400"/>
          </a:xfrm>
          <a:prstGeom prst="roundRect">
            <a:avLst>
              <a:gd name="adj" fmla="val 857"/>
            </a:avLst>
          </a:prstGeom>
          <a:solidFill>
            <a:srgbClr val="FBFBFD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81728" y="2286000"/>
            <a:ext cx="384048" cy="384048"/>
          </a:xfrm>
          <a:prstGeom prst="ellipse">
            <a:avLst/>
          </a:prstGeom>
          <a:solidFill>
            <a:srgbClr val="4B3F9E"/>
          </a:solidFill>
          <a:ln/>
        </p:spPr>
      </p:sp>
      <p:sp>
        <p:nvSpPr>
          <p:cNvPr id="11" name="Text 9"/>
          <p:cNvSpPr/>
          <p:nvPr/>
        </p:nvSpPr>
        <p:spPr>
          <a:xfrm>
            <a:off x="4681728" y="2286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81728" y="285292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617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Judges every message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681728" y="3566160"/>
            <a:ext cx="2834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scope, out of scope, a new commitment, or noise — with the clause that decides it and how sure it is.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38160" y="1965960"/>
            <a:ext cx="3429000" cy="3200400"/>
          </a:xfrm>
          <a:prstGeom prst="roundRect">
            <a:avLst>
              <a:gd name="adj" fmla="val 857"/>
            </a:avLst>
          </a:prstGeom>
          <a:solidFill>
            <a:srgbClr val="FBFBFD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30768" y="2286000"/>
            <a:ext cx="384048" cy="384048"/>
          </a:xfrm>
          <a:prstGeom prst="ellipse">
            <a:avLst/>
          </a:prstGeom>
          <a:solidFill>
            <a:srgbClr val="4B3F9E"/>
          </a:solidFill>
          <a:ln/>
        </p:spPr>
      </p:sp>
      <p:sp>
        <p:nvSpPr>
          <p:cNvPr id="16" name="Text 14"/>
          <p:cNvSpPr/>
          <p:nvPr/>
        </p:nvSpPr>
        <p:spPr>
          <a:xfrm>
            <a:off x="8430768" y="2286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430768" y="285292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617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the ledger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430768" y="3566160"/>
            <a:ext cx="2834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promise you made, the words that set its deadline, and whether you kept it.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54864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4B3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acts, but only into drafts — and never sends.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B3F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MOMENT THAT SELLS 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617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flagged the slip a week before the client did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257800" cy="1691640"/>
          </a:xfrm>
          <a:prstGeom prst="roundRect">
            <a:avLst>
              <a:gd name="adj" fmla="val 1622"/>
            </a:avLst>
          </a:prstGeom>
          <a:solidFill>
            <a:srgbClr val="FFFFFF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21284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20" kern="0" dirty="0">
                <a:solidFill>
                  <a:srgbClr val="4B3F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 · 12 AUGUST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14400" y="2542032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1617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“I'll get the Collections page to you by Friday.”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3886200"/>
            <a:ext cx="5257800" cy="1691640"/>
          </a:xfrm>
          <a:prstGeom prst="roundRect">
            <a:avLst>
              <a:gd name="adj" fmla="val 1622"/>
            </a:avLst>
          </a:prstGeom>
          <a:solidFill>
            <a:srgbClr val="FFFFFF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413308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20" kern="0" dirty="0">
                <a:solidFill>
                  <a:srgbClr val="B334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· 19 AUGUST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14400" y="4462272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1617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“Any luck with the Collections page? You'd mentioned Friday…”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63640" y="1965960"/>
            <a:ext cx="5257800" cy="3611880"/>
          </a:xfrm>
          <a:prstGeom prst="roundRect">
            <a:avLst>
              <a:gd name="adj" fmla="val 759"/>
            </a:avLst>
          </a:prstGeom>
          <a:solidFill>
            <a:srgbClr val="2E2569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228600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30" kern="0" dirty="0">
                <a:solidFill>
                  <a:srgbClr val="A9A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LEDGER, ON 14 AUGUST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537960" y="269748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FF9C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OVERDUE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537960" y="3127248"/>
            <a:ext cx="466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Collections page</a:t>
            </a:r>
            <a:endParaRPr lang="en-US" sz="21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due 14 August</a:t>
            </a:r>
            <a:endParaRPr lang="en-US" sz="21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delivered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6537960" y="47091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9A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days before the client asked.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B3F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617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stages, and a rule about who decides what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2514600" cy="1783080"/>
          </a:xfrm>
          <a:prstGeom prst="roundRect">
            <a:avLst>
              <a:gd name="adj" fmla="val 1538"/>
            </a:avLst>
          </a:prstGeom>
          <a:solidFill>
            <a:srgbClr val="FBFBFD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9536" y="224942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B3F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INGEST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59536" y="2633472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→ scope items,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with a verbatim span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191256" y="26517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B3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456432" y="2011680"/>
            <a:ext cx="2514600" cy="1783080"/>
          </a:xfrm>
          <a:prstGeom prst="roundRect">
            <a:avLst>
              <a:gd name="adj" fmla="val 1538"/>
            </a:avLst>
          </a:prstGeom>
          <a:solidFill>
            <a:srgbClr val="FBFBFD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75888" y="224942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B3F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CLASSIFY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675888" y="2633472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→ verdict,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to a clause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007608" y="26517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B3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272784" y="2011680"/>
            <a:ext cx="2514600" cy="1783080"/>
          </a:xfrm>
          <a:prstGeom prst="roundRect">
            <a:avLst>
              <a:gd name="adj" fmla="val 1538"/>
            </a:avLst>
          </a:prstGeom>
          <a:solidFill>
            <a:srgbClr val="FBFBFD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224942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B3F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92240" y="2633472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Copied words → dates,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resolved in code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823960" y="26517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B3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089136" y="2011680"/>
            <a:ext cx="2514600" cy="1783080"/>
          </a:xfrm>
          <a:prstGeom prst="roundRect">
            <a:avLst>
              <a:gd name="adj" fmla="val 1538"/>
            </a:avLst>
          </a:prstGeom>
          <a:solidFill>
            <a:srgbClr val="FBFBFD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08592" y="224942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B3F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308592" y="2633472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 → your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approval. Never sent.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4114800"/>
            <a:ext cx="5394960" cy="1691640"/>
          </a:xfrm>
          <a:prstGeom prst="roundRect">
            <a:avLst>
              <a:gd name="adj" fmla="val 1622"/>
            </a:avLst>
          </a:prstGeom>
          <a:solidFill>
            <a:srgbClr val="FFFFFF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4370832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7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copies. The code decides.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14400" y="475488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copies “by Friday” verbatim. Code anchors that to when the message arrived, in the freelancer's timezone. A model asked for a date invents a plausible one.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309360" y="4114800"/>
            <a:ext cx="5212080" cy="1691640"/>
          </a:xfrm>
          <a:prstGeom prst="roundRect">
            <a:avLst>
              <a:gd name="adj" fmla="val 1622"/>
            </a:avLst>
          </a:prstGeom>
          <a:solidFill>
            <a:srgbClr val="FFFFFF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83680" y="4370832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7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“Soon” is recorded, not discarded.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583680" y="475488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promise with no date is the one that goes missing. It is kept in the ledger, marked vague, quoting the word you actually used.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B3F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617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refuses to do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rails, enforced in code and covered by tests — not asked for in a prompt.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6949440" cy="1024128"/>
          </a:xfrm>
          <a:prstGeom prst="roundRect">
            <a:avLst>
              <a:gd name="adj" fmla="val 2679"/>
            </a:avLst>
          </a:prstGeom>
          <a:solidFill>
            <a:srgbClr val="FFFFFF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551176"/>
            <a:ext cx="365760" cy="365760"/>
          </a:xfrm>
          <a:prstGeom prst="ellipse">
            <a:avLst/>
          </a:prstGeom>
          <a:solidFill>
            <a:srgbClr val="B3341F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5511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63040" y="2386584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17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sends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463040" y="2715768"/>
            <a:ext cx="5943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Drafts are created and stop there. The Gmail scope would permit sending; the codebase has no send path, and a test asserts it.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3447288"/>
            <a:ext cx="6949440" cy="1024128"/>
          </a:xfrm>
          <a:prstGeom prst="roundRect">
            <a:avLst>
              <a:gd name="adj" fmla="val 2679"/>
            </a:avLst>
          </a:prstGeom>
          <a:solidFill>
            <a:srgbClr val="FFFFFF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3758184"/>
            <a:ext cx="365760" cy="365760"/>
          </a:xfrm>
          <a:prstGeom prst="ellipse">
            <a:avLst/>
          </a:prstGeom>
          <a:solidFill>
            <a:srgbClr val="B3341F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37581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463040" y="3593592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17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invents money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463040" y="3922776"/>
            <a:ext cx="5943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fee or percentage may appear in a reply unless it is already in the contract.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4654296"/>
            <a:ext cx="6949440" cy="1024128"/>
          </a:xfrm>
          <a:prstGeom prst="roundRect">
            <a:avLst>
              <a:gd name="adj" fmla="val 2679"/>
            </a:avLst>
          </a:prstGeom>
          <a:solidFill>
            <a:srgbClr val="FFFFFF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4965192"/>
            <a:ext cx="365760" cy="365760"/>
          </a:xfrm>
          <a:prstGeom prst="ellipse">
            <a:avLst/>
          </a:prstGeom>
          <a:solidFill>
            <a:srgbClr val="B3341F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4965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63040" y="4800600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17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picks your date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463040" y="5129784"/>
            <a:ext cx="5943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late-work update leaves [NEW DATE] for you. Committing you to a date you never agreed is not the agent's to do.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955280" y="2240280"/>
            <a:ext cx="3566160" cy="3648456"/>
          </a:xfrm>
          <a:prstGeom prst="roundRect">
            <a:avLst>
              <a:gd name="adj" fmla="val 769"/>
            </a:avLst>
          </a:prstGeom>
          <a:solidFill>
            <a:srgbClr val="FAF2DF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0" y="251460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20" kern="0" dirty="0">
                <a:solidFill>
                  <a:srgbClr val="8A65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 WHEN IT ISN'T SURE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229600" y="292608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i="1" dirty="0">
                <a:solidFill>
                  <a:srgbClr val="1617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“Could the logo animate a little?”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229600" y="397764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enough that it might sit inside an existing deliverable. The agent writes no draft. It asks you.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B3F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DID YOU OVERFIT TO YOUR OWN DEMO?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617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unrelated contracts. No prompt changes.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1627632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 was written to break the first one's assumptions: prose instead of lists, exclusions buried mid-paragraph under no heading, dollars instead of rupees, a timezone west of UTC.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395728"/>
          <a:ext cx="76809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240280"/>
                <a:gridCol w="22402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spc="110" kern="0" dirty="0">
                          <a:solidFill>
                            <a:srgbClr val="4B3F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WEBSITE BUILD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spc="110" kern="0" dirty="0">
                          <a:solidFill>
                            <a:srgbClr val="4B3F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PIPELINE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17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Contract style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6B4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sections, explicit list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6B4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prose, buried in text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17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Money / timezone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6B4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INR fixed · +5:30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6B4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USD hourly · −4:00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17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Scope items extracted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6B4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6B4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13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17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Unverifiable quotes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6B4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6B4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17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Exclusions found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6B4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 of 3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6B4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 of 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17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Verdicts rejected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6B4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of 20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6B4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of 16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17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“Unsure” verdicts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6B4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6B4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17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Drafts refused by rails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6B4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6B4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641080" y="2395728"/>
            <a:ext cx="2880360" cy="2798064"/>
          </a:xfrm>
          <a:prstGeom prst="roundRect">
            <a:avLst>
              <a:gd name="adj" fmla="val 980"/>
            </a:avLst>
          </a:prstGeom>
          <a:solidFill>
            <a:srgbClr val="2E2569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887968" y="2633472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10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8887968" y="3346704"/>
            <a:ext cx="2423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FC9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borderline message in each thread returns “unsure” — five consecutive runs each, temperature pinned. We first claimed this from a single run, then re-ran it and found it was not true yet.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B3F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WE KNOW IT WORKS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617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second contract found three bugs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it was not a demo flourish. It was a test, and it failed usefully.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7315200" cy="100584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542032"/>
            <a:ext cx="365760" cy="365760"/>
          </a:xfrm>
          <a:prstGeom prst="ellipse">
            <a:avLst/>
          </a:prstGeom>
          <a:solidFill>
            <a:srgbClr val="4B3F9E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542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63040" y="2377440"/>
            <a:ext cx="6263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17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Dates off by one, west of UTC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1463040" y="2697480"/>
            <a:ext cx="6309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End-of-day stored in UTC reads as the next day at −4:00. A +5:30 demo hid it completely.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3429000"/>
            <a:ext cx="7315200" cy="100584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3730752"/>
            <a:ext cx="365760" cy="365760"/>
          </a:xfrm>
          <a:prstGeom prst="ellipse">
            <a:avLst/>
          </a:prstGeom>
          <a:solidFill>
            <a:srgbClr val="B3341F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463040" y="3566160"/>
            <a:ext cx="6263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17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page that rendered fine, with a piece missing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1463040" y="3886200"/>
            <a:ext cx="6309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ids assumed to be per-project were global, so replaying the second contract silently dropped every link between a chase and its promise.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4617720"/>
            <a:ext cx="7315200" cy="100584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4919472"/>
            <a:ext cx="365760" cy="365760"/>
          </a:xfrm>
          <a:prstGeom prst="ellipse">
            <a:avLst/>
          </a:prstGeom>
          <a:solidFill>
            <a:srgbClr val="4B3F9E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49194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63040" y="4754880"/>
            <a:ext cx="6263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17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claim that was true once, not always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1463040" y="5074920"/>
            <a:ext cx="6309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said the confidence band held, on one run. Re-running gave a different answer. A catch-all clause let the model be certain about anything, so nothing was ever ambiguous — the fix was a rule, not a retry.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275320" y="2240280"/>
            <a:ext cx="3246120" cy="3566160"/>
          </a:xfrm>
          <a:prstGeom prst="roundRect">
            <a:avLst>
              <a:gd name="adj" fmla="val 845"/>
            </a:avLst>
          </a:prstGeom>
          <a:solidFill>
            <a:srgbClr val="FFFFFF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9640" y="2487168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B3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</a:t>
            </a:r>
            <a:endParaRPr lang="en-US" sz="5400" dirty="0"/>
          </a:p>
        </p:txBody>
      </p:sp>
      <p:sp>
        <p:nvSpPr>
          <p:cNvPr id="22" name="Text 20"/>
          <p:cNvSpPr/>
          <p:nvPr/>
        </p:nvSpPr>
        <p:spPr>
          <a:xfrm>
            <a:off x="8549640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10" kern="0" dirty="0">
                <a:solidFill>
                  <a:srgbClr val="5B60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checks, no framework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549640" y="379476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cover what fails quietly: a fabricated quote, an invented price, a cache prefix that stops being stable, a due date one day out, a send path appearing where none should exist.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E256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7E76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 PAYS, AND WHY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0515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recovered change order pays for a year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25146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A9A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2926080"/>
            <a:ext cx="3246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E4E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Freelance developers and consultants who bill by scope — people who lose money to unpaid extras, not to lack of leads.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434840" y="25146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A9A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Both sides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434840" y="2926080"/>
            <a:ext cx="3246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E4E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shop that hired them has the same problem inverted, and the same engine answers it. One contract, one thread, two readings of who is late. Growth without becoming a thinner product.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0" y="25146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A9A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46720" y="2926080"/>
            <a:ext cx="3246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E4E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ingestion, message classification, obligation ledger, drafting with safety rails, and the review surface — end to end, on two contracts, from either side.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52120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i="1" dirty="0">
                <a:solidFill>
                  <a:srgbClr val="CFC9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Gmail has your inbox. It does not have your contract.</a:t>
            </a:r>
            <a:endParaRPr lang="en-US" sz="2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Chief of Staff</dc:title>
  <dc:subject>PptxGenJS Presentation</dc:subject>
  <dc:creator>Chief of Staff</dc:creator>
  <cp:lastModifiedBy>Chief of Staff</cp:lastModifiedBy>
  <cp:revision>1</cp:revision>
  <dcterms:created xsi:type="dcterms:W3CDTF">2026-08-25T10:46:47Z</dcterms:created>
  <dcterms:modified xsi:type="dcterms:W3CDTF">2026-08-25T10:46:47Z</dcterms:modified>
</cp:coreProperties>
</file>